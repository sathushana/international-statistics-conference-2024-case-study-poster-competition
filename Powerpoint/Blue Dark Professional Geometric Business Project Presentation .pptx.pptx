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embeddedFontLst>
    <p:embeddedFont>
      <p:font typeface="TT Phobos Bold" panose="020B0604020202020204" charset="0"/>
      <p:regular r:id="rId32"/>
    </p:embeddedFont>
    <p:embeddedFont>
      <p:font typeface="Calibri" panose="020F0502020204030204" pitchFamily="34" charset="0"/>
      <p:regular r:id="rId33"/>
      <p:bold r:id="rId34"/>
      <p:italic r:id="rId35"/>
      <p:boldItalic r:id="rId36"/>
    </p:embeddedFont>
    <p:embeddedFont>
      <p:font typeface="Arimo Italics" panose="020B0604020202020204" charset="0"/>
      <p:regular r:id="rId37"/>
    </p:embeddedFont>
    <p:embeddedFont>
      <p:font typeface="Arimo" panose="020B0604020202020204" charset="0"/>
      <p:regular r:id="rId38"/>
    </p:embeddedFont>
    <p:embeddedFont>
      <p:font typeface="DM Sans" panose="020B0604020202020204" charset="0"/>
      <p:regular r:id="rId39"/>
    </p:embeddedFont>
    <p:embeddedFont>
      <p:font typeface="TT Phobos Italics" panose="020B0604020202020204" charset="0"/>
      <p:regular r:id="rId40"/>
    </p:embeddedFont>
    <p:embeddedFont>
      <p:font typeface="TT Phobos Bold Italics" panose="020B0604020202020204" charset="0"/>
      <p:regular r:id="rId41"/>
    </p:embeddedFont>
    <p:embeddedFont>
      <p:font typeface="Arimo Bold" panose="020B0604020202020204"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202"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svg"/><Relationship Id="rId2" Type="http://schemas.openxmlformats.org/officeDocument/2006/relationships/image" Target="../media/image5.png"/><Relationship Id="rId16"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image" Target="../media/image11.svg"/><Relationship Id="rId15" Type="http://schemas.openxmlformats.org/officeDocument/2006/relationships/image" Target="../media/image2.png"/><Relationship Id="rId10" Type="http://schemas.openxmlformats.org/officeDocument/2006/relationships/image" Target="../media/image9.jpeg"/><Relationship Id="rId4" Type="http://schemas.openxmlformats.org/officeDocument/2006/relationships/image" Target="../media/image6.png"/><Relationship Id="rId9" Type="http://schemas.openxmlformats.org/officeDocument/2006/relationships/image" Target="../media/image15.svg"/><Relationship Id="rId14" Type="http://schemas.openxmlformats.org/officeDocument/2006/relationships/image" Target="../media/image20.svg"/></Relationships>
</file>

<file path=ppt/slides/_rels/slide3.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0.svg"/><Relationship Id="rId10" Type="http://schemas.openxmlformats.org/officeDocument/2006/relationships/image" Target="../media/image20.png"/><Relationship Id="rId4" Type="http://schemas.openxmlformats.org/officeDocument/2006/relationships/image" Target="../media/image17.png"/><Relationship Id="rId9" Type="http://schemas.openxmlformats.org/officeDocument/2006/relationships/image" Target="../media/image34.sv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0.svg"/><Relationship Id="rId10"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34.svg"/></Relationships>
</file>

<file path=ppt/slides/_rels/slide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0.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8.sv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50.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6.png"/><Relationship Id="rId7" Type="http://schemas.openxmlformats.org/officeDocument/2006/relationships/image" Target="../media/image68.png"/><Relationship Id="rId2" Type="http://schemas.openxmlformats.org/officeDocument/2006/relationships/image" Target="../media/image65.jpeg"/><Relationship Id="rId1" Type="http://schemas.openxmlformats.org/officeDocument/2006/relationships/slideLayout" Target="../slideLayouts/slideLayout7.xml"/><Relationship Id="rId6" Type="http://schemas.openxmlformats.org/officeDocument/2006/relationships/image" Target="../media/image86.svg"/><Relationship Id="rId5" Type="http://schemas.openxmlformats.org/officeDocument/2006/relationships/image" Target="../media/image67.png"/><Relationship Id="rId4" Type="http://schemas.openxmlformats.org/officeDocument/2006/relationships/image" Target="../media/image84.svg"/></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2.sv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4.sv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4.svg"/><Relationship Id="rId2" Type="http://schemas.openxmlformats.org/officeDocument/2006/relationships/image" Target="../media/image7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6298462" y="-859462"/>
            <a:ext cx="2037819" cy="11958151"/>
          </a:xfrm>
          <a:custGeom>
            <a:avLst/>
            <a:gdLst/>
            <a:ahLst/>
            <a:cxnLst/>
            <a:rect l="l" t="t" r="r" b="b"/>
            <a:pathLst>
              <a:path w="2037819" h="11958151">
                <a:moveTo>
                  <a:pt x="0" y="0"/>
                </a:moveTo>
                <a:lnTo>
                  <a:pt x="2037819" y="0"/>
                </a:lnTo>
                <a:lnTo>
                  <a:pt x="2037819" y="11958151"/>
                </a:lnTo>
                <a:lnTo>
                  <a:pt x="0" y="1195815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2476946" y="50498"/>
            <a:ext cx="1505547" cy="1505547"/>
          </a:xfrm>
          <a:custGeom>
            <a:avLst/>
            <a:gdLst/>
            <a:ahLst/>
            <a:cxnLst/>
            <a:rect l="l" t="t" r="r" b="b"/>
            <a:pathLst>
              <a:path w="1505547" h="1505547">
                <a:moveTo>
                  <a:pt x="0" y="0"/>
                </a:moveTo>
                <a:lnTo>
                  <a:pt x="1505547" y="0"/>
                </a:lnTo>
                <a:lnTo>
                  <a:pt x="1505547" y="1505546"/>
                </a:lnTo>
                <a:lnTo>
                  <a:pt x="0" y="150554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a:off x="12870225" y="0"/>
            <a:ext cx="5417775" cy="10287000"/>
            <a:chOff x="0" y="0"/>
            <a:chExt cx="7223701" cy="13716000"/>
          </a:xfrm>
        </p:grpSpPr>
        <p:sp>
          <p:nvSpPr>
            <p:cNvPr id="5" name="Freeform 5"/>
            <p:cNvSpPr/>
            <p:nvPr/>
          </p:nvSpPr>
          <p:spPr>
            <a:xfrm>
              <a:off x="0" y="0"/>
              <a:ext cx="7223680" cy="13715933"/>
            </a:xfrm>
            <a:custGeom>
              <a:avLst/>
              <a:gdLst/>
              <a:ahLst/>
              <a:cxnLst/>
              <a:rect l="l" t="t" r="r" b="b"/>
              <a:pathLst>
                <a:path w="7223680" h="13715933">
                  <a:moveTo>
                    <a:pt x="7223680" y="13668693"/>
                  </a:moveTo>
                  <a:cubicBezTo>
                    <a:pt x="7223680" y="13712881"/>
                    <a:pt x="7214713" y="13715933"/>
                    <a:pt x="7191379" y="13715933"/>
                  </a:cubicBezTo>
                  <a:cubicBezTo>
                    <a:pt x="4795351" y="13715061"/>
                    <a:pt x="2399414" y="13715061"/>
                    <a:pt x="3386" y="13715061"/>
                  </a:cubicBezTo>
                  <a:cubicBezTo>
                    <a:pt x="0" y="13696601"/>
                    <a:pt x="5307" y="13679886"/>
                    <a:pt x="7778" y="13662733"/>
                  </a:cubicBezTo>
                  <a:cubicBezTo>
                    <a:pt x="113099" y="12914005"/>
                    <a:pt x="218511" y="12165276"/>
                    <a:pt x="324198" y="11416693"/>
                  </a:cubicBezTo>
                  <a:cubicBezTo>
                    <a:pt x="474814" y="10349344"/>
                    <a:pt x="625795" y="9282285"/>
                    <a:pt x="776319" y="8214937"/>
                  </a:cubicBezTo>
                  <a:cubicBezTo>
                    <a:pt x="962255" y="6896850"/>
                    <a:pt x="1147733" y="5578761"/>
                    <a:pt x="1333486" y="4260819"/>
                  </a:cubicBezTo>
                  <a:cubicBezTo>
                    <a:pt x="1522258" y="2921945"/>
                    <a:pt x="1711122" y="1583072"/>
                    <a:pt x="1900443" y="244343"/>
                  </a:cubicBezTo>
                  <a:cubicBezTo>
                    <a:pt x="1911973" y="162944"/>
                    <a:pt x="1919293" y="79510"/>
                    <a:pt x="1937960" y="872"/>
                  </a:cubicBezTo>
                  <a:cubicBezTo>
                    <a:pt x="3689161" y="872"/>
                    <a:pt x="5440362" y="872"/>
                    <a:pt x="7191654" y="0"/>
                  </a:cubicBezTo>
                  <a:cubicBezTo>
                    <a:pt x="7215445" y="0"/>
                    <a:pt x="7223497" y="4506"/>
                    <a:pt x="7223497" y="47822"/>
                  </a:cubicBezTo>
                  <a:cubicBezTo>
                    <a:pt x="7222857" y="4588161"/>
                    <a:pt x="7222857" y="9128644"/>
                    <a:pt x="7223680" y="13668839"/>
                  </a:cubicBezTo>
                  <a:close/>
                </a:path>
              </a:pathLst>
            </a:custGeom>
            <a:blipFill>
              <a:blip r:embed="rId6"/>
              <a:stretch>
                <a:fillRect l="-13323" r="-13300"/>
              </a:stretch>
            </a:blipFill>
          </p:spPr>
        </p:sp>
      </p:grpSp>
      <p:sp>
        <p:nvSpPr>
          <p:cNvPr id="6" name="TextBox 6"/>
          <p:cNvSpPr txBox="1"/>
          <p:nvPr/>
        </p:nvSpPr>
        <p:spPr>
          <a:xfrm>
            <a:off x="774296" y="7915160"/>
            <a:ext cx="5668353" cy="1864874"/>
          </a:xfrm>
          <a:prstGeom prst="rect">
            <a:avLst/>
          </a:prstGeom>
        </p:spPr>
        <p:txBody>
          <a:bodyPr lIns="0" tIns="0" rIns="0" bIns="0" rtlCol="0" anchor="t">
            <a:spAutoFit/>
          </a:bodyPr>
          <a:lstStyle/>
          <a:p>
            <a:pPr algn="l">
              <a:lnSpc>
                <a:spcPts val="3726"/>
              </a:lnSpc>
            </a:pPr>
            <a:r>
              <a:rPr lang="en-US" sz="3029" i="1" spc="27">
                <a:solidFill>
                  <a:srgbClr val="56AEFF"/>
                </a:solidFill>
                <a:latin typeface="TT Phobos Italics"/>
                <a:ea typeface="TT Phobos Italics"/>
                <a:cs typeface="TT Phobos Italics"/>
                <a:sym typeface="TT Phobos Italics"/>
              </a:rPr>
              <a:t>Presented by: </a:t>
            </a:r>
          </a:p>
          <a:p>
            <a:pPr algn="l">
              <a:lnSpc>
                <a:spcPts val="3726"/>
              </a:lnSpc>
            </a:pPr>
            <a:r>
              <a:rPr lang="en-US" sz="3029" i="1" spc="28">
                <a:solidFill>
                  <a:srgbClr val="56AEFF"/>
                </a:solidFill>
                <a:latin typeface="TT Phobos Italics"/>
                <a:ea typeface="TT Phobos Italics"/>
                <a:cs typeface="TT Phobos Italics"/>
                <a:sym typeface="TT Phobos Italics"/>
              </a:rPr>
              <a:t>       S. Thushan</a:t>
            </a:r>
          </a:p>
          <a:p>
            <a:pPr algn="l">
              <a:lnSpc>
                <a:spcPts val="3726"/>
              </a:lnSpc>
            </a:pPr>
            <a:r>
              <a:rPr lang="en-US" sz="3029" i="1" spc="28">
                <a:solidFill>
                  <a:srgbClr val="56AEFF"/>
                </a:solidFill>
                <a:latin typeface="TT Phobos Italics"/>
                <a:ea typeface="TT Phobos Italics"/>
                <a:cs typeface="TT Phobos Italics"/>
                <a:sym typeface="TT Phobos Italics"/>
              </a:rPr>
              <a:t>       G. Sathushana</a:t>
            </a:r>
          </a:p>
          <a:p>
            <a:pPr algn="l">
              <a:lnSpc>
                <a:spcPts val="3726"/>
              </a:lnSpc>
            </a:pPr>
            <a:r>
              <a:rPr lang="en-US" sz="3029" i="1" spc="28">
                <a:solidFill>
                  <a:srgbClr val="56AEFF"/>
                </a:solidFill>
                <a:latin typeface="TT Phobos Italics"/>
                <a:ea typeface="TT Phobos Italics"/>
                <a:cs typeface="TT Phobos Italics"/>
                <a:sym typeface="TT Phobos Italics"/>
              </a:rPr>
              <a:t>       R. Thivajini</a:t>
            </a:r>
          </a:p>
        </p:txBody>
      </p:sp>
      <p:sp>
        <p:nvSpPr>
          <p:cNvPr id="7" name="TextBox 7"/>
          <p:cNvSpPr txBox="1"/>
          <p:nvPr/>
        </p:nvSpPr>
        <p:spPr>
          <a:xfrm>
            <a:off x="605607" y="2642337"/>
            <a:ext cx="12913299" cy="3629025"/>
          </a:xfrm>
          <a:prstGeom prst="rect">
            <a:avLst/>
          </a:prstGeom>
        </p:spPr>
        <p:txBody>
          <a:bodyPr lIns="0" tIns="0" rIns="0" bIns="0" rtlCol="0" anchor="t">
            <a:spAutoFit/>
          </a:bodyPr>
          <a:lstStyle/>
          <a:p>
            <a:pPr algn="l">
              <a:lnSpc>
                <a:spcPts val="9899"/>
              </a:lnSpc>
            </a:pPr>
            <a:r>
              <a:rPr lang="en-US" sz="5499" b="1" i="1" spc="52">
                <a:solidFill>
                  <a:srgbClr val="FFFFFF"/>
                </a:solidFill>
                <a:latin typeface="TT Phobos Bold Italics"/>
                <a:ea typeface="TT Phobos Bold Italics"/>
                <a:cs typeface="TT Phobos Bold Italics"/>
                <a:sym typeface="TT Phobos Bold Italics"/>
              </a:rPr>
              <a:t>100 % Accuracy in Credit </a:t>
            </a:r>
          </a:p>
          <a:p>
            <a:pPr algn="l">
              <a:lnSpc>
                <a:spcPts val="9899"/>
              </a:lnSpc>
            </a:pPr>
            <a:r>
              <a:rPr lang="en-US" sz="5499" b="1" i="1" spc="52">
                <a:solidFill>
                  <a:srgbClr val="FFFFFF"/>
                </a:solidFill>
                <a:latin typeface="TT Phobos Bold Italics"/>
                <a:ea typeface="TT Phobos Bold Italics"/>
                <a:cs typeface="TT Phobos Bold Italics"/>
                <a:sym typeface="TT Phobos Bold Italics"/>
              </a:rPr>
              <a:t>Risk Prediction and Breakthrough in </a:t>
            </a:r>
          </a:p>
          <a:p>
            <a:pPr algn="l">
              <a:lnSpc>
                <a:spcPts val="9899"/>
              </a:lnSpc>
            </a:pPr>
            <a:r>
              <a:rPr lang="en-US" sz="5499" b="1" i="1" spc="52">
                <a:solidFill>
                  <a:srgbClr val="FFFFFF"/>
                </a:solidFill>
                <a:latin typeface="TT Phobos Bold Italics"/>
                <a:ea typeface="TT Phobos Bold Italics"/>
                <a:cs typeface="TT Phobos Bold Italics"/>
                <a:sym typeface="TT Phobos Bold Italics"/>
              </a:rPr>
              <a:t>Risk Scoring</a:t>
            </a:r>
          </a:p>
        </p:txBody>
      </p:sp>
      <p:sp>
        <p:nvSpPr>
          <p:cNvPr id="8" name="TextBox 8"/>
          <p:cNvSpPr txBox="1"/>
          <p:nvPr/>
        </p:nvSpPr>
        <p:spPr>
          <a:xfrm>
            <a:off x="1168778" y="465128"/>
            <a:ext cx="3344977" cy="654744"/>
          </a:xfrm>
          <a:prstGeom prst="rect">
            <a:avLst/>
          </a:prstGeom>
        </p:spPr>
        <p:txBody>
          <a:bodyPr lIns="0" tIns="0" rIns="0" bIns="0" rtlCol="0" anchor="t">
            <a:spAutoFit/>
          </a:bodyPr>
          <a:lstStyle/>
          <a:p>
            <a:pPr algn="l">
              <a:lnSpc>
                <a:spcPts val="3131"/>
              </a:lnSpc>
            </a:pPr>
            <a:r>
              <a:rPr lang="en-US" sz="4000" b="1" i="1" spc="-11">
                <a:solidFill>
                  <a:srgbClr val="56AEFF"/>
                </a:solidFill>
                <a:latin typeface="TT Phobos Bold Italics"/>
                <a:ea typeface="TT Phobos Bold Italics"/>
                <a:cs typeface="TT Phobos Bold Italics"/>
                <a:sym typeface="TT Phobos Bold Italics"/>
              </a:rPr>
              <a:t>Pera Sparkers</a:t>
            </a:r>
          </a:p>
        </p:txBody>
      </p:sp>
      <p:sp>
        <p:nvSpPr>
          <p:cNvPr id="9" name="Freeform 9"/>
          <p:cNvSpPr/>
          <p:nvPr/>
        </p:nvSpPr>
        <p:spPr>
          <a:xfrm>
            <a:off x="182513" y="312728"/>
            <a:ext cx="846187" cy="981086"/>
          </a:xfrm>
          <a:custGeom>
            <a:avLst/>
            <a:gdLst/>
            <a:ahLst/>
            <a:cxnLst/>
            <a:rect l="l" t="t" r="r" b="b"/>
            <a:pathLst>
              <a:path w="846187" h="981086">
                <a:moveTo>
                  <a:pt x="0" y="0"/>
                </a:moveTo>
                <a:lnTo>
                  <a:pt x="846187" y="0"/>
                </a:lnTo>
                <a:lnTo>
                  <a:pt x="846187" y="981086"/>
                </a:lnTo>
                <a:lnTo>
                  <a:pt x="0" y="981086"/>
                </a:lnTo>
                <a:lnTo>
                  <a:pt x="0" y="0"/>
                </a:lnTo>
                <a:close/>
              </a:path>
            </a:pathLst>
          </a:custGeom>
          <a:blipFill>
            <a:blip r:embed="rId7">
              <a:extLst>
                <a:ext uri="{96DAC541-7B7A-43D3-8B79-37D633B846F1}">
                  <asvg:svgBlip xmlns:asvg="http://schemas.microsoft.com/office/drawing/2016/SVG/main" xmlns="" r:embed="rId8"/>
                </a:ext>
              </a:extLst>
            </a:blip>
            <a:stretch>
              <a:fillRect t="-393" b="-393"/>
            </a:stretch>
          </a:blipFill>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694274" y="2224613"/>
            <a:ext cx="2638154" cy="2386101"/>
          </a:xfrm>
          <a:custGeom>
            <a:avLst/>
            <a:gdLst/>
            <a:ahLst/>
            <a:cxnLst/>
            <a:rect l="l" t="t" r="r" b="b"/>
            <a:pathLst>
              <a:path w="2638154" h="2386101">
                <a:moveTo>
                  <a:pt x="0" y="0"/>
                </a:moveTo>
                <a:lnTo>
                  <a:pt x="2638155" y="0"/>
                </a:lnTo>
                <a:lnTo>
                  <a:pt x="2638155" y="2386101"/>
                </a:lnTo>
                <a:lnTo>
                  <a:pt x="0" y="238610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854118" y="3819714"/>
            <a:ext cx="2241225" cy="47625"/>
            <a:chOff x="0" y="0"/>
            <a:chExt cx="2988300" cy="63500"/>
          </a:xfrm>
        </p:grpSpPr>
        <p:sp>
          <p:nvSpPr>
            <p:cNvPr id="4" name="Freeform 4"/>
            <p:cNvSpPr/>
            <p:nvPr/>
          </p:nvSpPr>
          <p:spPr>
            <a:xfrm>
              <a:off x="25400" y="0"/>
              <a:ext cx="2937510" cy="63500"/>
            </a:xfrm>
            <a:custGeom>
              <a:avLst/>
              <a:gdLst/>
              <a:ahLst/>
              <a:cxnLst/>
              <a:rect l="l" t="t" r="r" b="b"/>
              <a:pathLst>
                <a:path w="2937510" h="63500">
                  <a:moveTo>
                    <a:pt x="0" y="0"/>
                  </a:moveTo>
                  <a:lnTo>
                    <a:pt x="2937510" y="0"/>
                  </a:lnTo>
                  <a:lnTo>
                    <a:pt x="2937510" y="63500"/>
                  </a:lnTo>
                  <a:lnTo>
                    <a:pt x="0" y="63500"/>
                  </a:lnTo>
                  <a:close/>
                </a:path>
              </a:pathLst>
            </a:custGeom>
            <a:solidFill>
              <a:srgbClr val="FFFFFF"/>
            </a:solidFill>
          </p:spPr>
        </p:sp>
      </p:grpSp>
      <p:sp>
        <p:nvSpPr>
          <p:cNvPr id="5" name="Freeform 5"/>
          <p:cNvSpPr/>
          <p:nvPr/>
        </p:nvSpPr>
        <p:spPr>
          <a:xfrm>
            <a:off x="4133354" y="2224613"/>
            <a:ext cx="2638154" cy="2386101"/>
          </a:xfrm>
          <a:custGeom>
            <a:avLst/>
            <a:gdLst/>
            <a:ahLst/>
            <a:cxnLst/>
            <a:rect l="l" t="t" r="r" b="b"/>
            <a:pathLst>
              <a:path w="2638154" h="2386101">
                <a:moveTo>
                  <a:pt x="0" y="0"/>
                </a:moveTo>
                <a:lnTo>
                  <a:pt x="2638154" y="0"/>
                </a:lnTo>
                <a:lnTo>
                  <a:pt x="2638154" y="2386101"/>
                </a:lnTo>
                <a:lnTo>
                  <a:pt x="0" y="238610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Freeform 6"/>
          <p:cNvSpPr/>
          <p:nvPr/>
        </p:nvSpPr>
        <p:spPr>
          <a:xfrm>
            <a:off x="694274" y="5625897"/>
            <a:ext cx="2638154" cy="2365578"/>
          </a:xfrm>
          <a:custGeom>
            <a:avLst/>
            <a:gdLst/>
            <a:ahLst/>
            <a:cxnLst/>
            <a:rect l="l" t="t" r="r" b="b"/>
            <a:pathLst>
              <a:path w="2638154" h="2365578">
                <a:moveTo>
                  <a:pt x="0" y="0"/>
                </a:moveTo>
                <a:lnTo>
                  <a:pt x="2638155" y="0"/>
                </a:lnTo>
                <a:lnTo>
                  <a:pt x="2638155" y="2365578"/>
                </a:lnTo>
                <a:lnTo>
                  <a:pt x="0" y="236557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7" name="Group 7"/>
          <p:cNvGrpSpPr/>
          <p:nvPr/>
        </p:nvGrpSpPr>
        <p:grpSpPr>
          <a:xfrm>
            <a:off x="931360" y="7305575"/>
            <a:ext cx="2241225" cy="38100"/>
            <a:chOff x="0" y="0"/>
            <a:chExt cx="2988300" cy="50800"/>
          </a:xfrm>
        </p:grpSpPr>
        <p:sp>
          <p:nvSpPr>
            <p:cNvPr id="8" name="Freeform 8"/>
            <p:cNvSpPr/>
            <p:nvPr/>
          </p:nvSpPr>
          <p:spPr>
            <a:xfrm>
              <a:off x="25400" y="0"/>
              <a:ext cx="2937510" cy="50800"/>
            </a:xfrm>
            <a:custGeom>
              <a:avLst/>
              <a:gdLst/>
              <a:ahLst/>
              <a:cxnLst/>
              <a:rect l="l" t="t" r="r" b="b"/>
              <a:pathLst>
                <a:path w="2937510" h="50800">
                  <a:moveTo>
                    <a:pt x="0" y="0"/>
                  </a:moveTo>
                  <a:lnTo>
                    <a:pt x="2937510" y="0"/>
                  </a:lnTo>
                  <a:lnTo>
                    <a:pt x="2937510" y="50800"/>
                  </a:lnTo>
                  <a:lnTo>
                    <a:pt x="0" y="50800"/>
                  </a:lnTo>
                  <a:close/>
                </a:path>
              </a:pathLst>
            </a:custGeom>
            <a:solidFill>
              <a:srgbClr val="FFFFFF"/>
            </a:solidFill>
          </p:spPr>
        </p:sp>
      </p:grpSp>
      <p:sp>
        <p:nvSpPr>
          <p:cNvPr id="9" name="Freeform 9"/>
          <p:cNvSpPr/>
          <p:nvPr/>
        </p:nvSpPr>
        <p:spPr>
          <a:xfrm>
            <a:off x="4133354" y="5625897"/>
            <a:ext cx="2638154" cy="2365578"/>
          </a:xfrm>
          <a:custGeom>
            <a:avLst/>
            <a:gdLst/>
            <a:ahLst/>
            <a:cxnLst/>
            <a:rect l="l" t="t" r="r" b="b"/>
            <a:pathLst>
              <a:path w="2638154" h="2365578">
                <a:moveTo>
                  <a:pt x="0" y="0"/>
                </a:moveTo>
                <a:lnTo>
                  <a:pt x="2638154" y="0"/>
                </a:lnTo>
                <a:lnTo>
                  <a:pt x="2638154" y="2365578"/>
                </a:lnTo>
                <a:lnTo>
                  <a:pt x="0" y="2365578"/>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grpSp>
        <p:nvGrpSpPr>
          <p:cNvPr id="10" name="Group 10"/>
          <p:cNvGrpSpPr/>
          <p:nvPr/>
        </p:nvGrpSpPr>
        <p:grpSpPr>
          <a:xfrm>
            <a:off x="4331818" y="7324625"/>
            <a:ext cx="2241225" cy="38100"/>
            <a:chOff x="0" y="0"/>
            <a:chExt cx="2988300" cy="50800"/>
          </a:xfrm>
        </p:grpSpPr>
        <p:sp>
          <p:nvSpPr>
            <p:cNvPr id="11" name="Freeform 11"/>
            <p:cNvSpPr/>
            <p:nvPr/>
          </p:nvSpPr>
          <p:spPr>
            <a:xfrm>
              <a:off x="25400" y="0"/>
              <a:ext cx="2937510" cy="50800"/>
            </a:xfrm>
            <a:custGeom>
              <a:avLst/>
              <a:gdLst/>
              <a:ahLst/>
              <a:cxnLst/>
              <a:rect l="l" t="t" r="r" b="b"/>
              <a:pathLst>
                <a:path w="2937510" h="50800">
                  <a:moveTo>
                    <a:pt x="0" y="0"/>
                  </a:moveTo>
                  <a:lnTo>
                    <a:pt x="2937510" y="0"/>
                  </a:lnTo>
                  <a:lnTo>
                    <a:pt x="2937510" y="50800"/>
                  </a:lnTo>
                  <a:lnTo>
                    <a:pt x="0" y="50800"/>
                  </a:lnTo>
                  <a:close/>
                </a:path>
              </a:pathLst>
            </a:custGeom>
            <a:solidFill>
              <a:srgbClr val="FFFFFF"/>
            </a:solidFill>
          </p:spPr>
        </p:sp>
      </p:grpSp>
      <p:grpSp>
        <p:nvGrpSpPr>
          <p:cNvPr id="12" name="Group 12"/>
          <p:cNvGrpSpPr/>
          <p:nvPr/>
        </p:nvGrpSpPr>
        <p:grpSpPr>
          <a:xfrm>
            <a:off x="11506200" y="1698193"/>
            <a:ext cx="6697476" cy="7733806"/>
            <a:chOff x="0" y="0"/>
            <a:chExt cx="8929968" cy="10311741"/>
          </a:xfrm>
        </p:grpSpPr>
        <p:sp>
          <p:nvSpPr>
            <p:cNvPr id="13" name="Freeform 13"/>
            <p:cNvSpPr/>
            <p:nvPr/>
          </p:nvSpPr>
          <p:spPr>
            <a:xfrm>
              <a:off x="0" y="0"/>
              <a:ext cx="8930005" cy="10311765"/>
            </a:xfrm>
            <a:custGeom>
              <a:avLst/>
              <a:gdLst/>
              <a:ahLst/>
              <a:cxnLst/>
              <a:rect l="l" t="t" r="r" b="b"/>
              <a:pathLst>
                <a:path w="8930005" h="10311765">
                  <a:moveTo>
                    <a:pt x="4464939" y="10311765"/>
                  </a:moveTo>
                  <a:lnTo>
                    <a:pt x="0" y="7733792"/>
                  </a:lnTo>
                  <a:lnTo>
                    <a:pt x="0" y="2577973"/>
                  </a:lnTo>
                  <a:lnTo>
                    <a:pt x="4464939" y="0"/>
                  </a:lnTo>
                  <a:lnTo>
                    <a:pt x="8930005" y="2577973"/>
                  </a:lnTo>
                  <a:lnTo>
                    <a:pt x="8930005" y="7733792"/>
                  </a:lnTo>
                  <a:lnTo>
                    <a:pt x="4464939" y="10311765"/>
                  </a:lnTo>
                  <a:close/>
                </a:path>
              </a:pathLst>
            </a:custGeom>
            <a:blipFill>
              <a:blip r:embed="rId10"/>
              <a:stretch>
                <a:fillRect l="-36604" r="-36604"/>
              </a:stretch>
            </a:blipFill>
          </p:spPr>
        </p:sp>
      </p:grpSp>
      <p:sp>
        <p:nvSpPr>
          <p:cNvPr id="14" name="Freeform 14"/>
          <p:cNvSpPr/>
          <p:nvPr/>
        </p:nvSpPr>
        <p:spPr>
          <a:xfrm>
            <a:off x="7695433" y="2224613"/>
            <a:ext cx="3235966" cy="2386101"/>
          </a:xfrm>
          <a:custGeom>
            <a:avLst/>
            <a:gdLst/>
            <a:ahLst/>
            <a:cxnLst/>
            <a:rect l="l" t="t" r="r" b="b"/>
            <a:pathLst>
              <a:path w="3235966" h="2386101">
                <a:moveTo>
                  <a:pt x="0" y="0"/>
                </a:moveTo>
                <a:lnTo>
                  <a:pt x="3235966" y="0"/>
                </a:lnTo>
                <a:lnTo>
                  <a:pt x="3235966" y="2386101"/>
                </a:lnTo>
                <a:lnTo>
                  <a:pt x="0" y="2386101"/>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grpSp>
        <p:nvGrpSpPr>
          <p:cNvPr id="15" name="Group 15"/>
          <p:cNvGrpSpPr/>
          <p:nvPr/>
        </p:nvGrpSpPr>
        <p:grpSpPr>
          <a:xfrm>
            <a:off x="7853252" y="3867339"/>
            <a:ext cx="2920328" cy="38100"/>
            <a:chOff x="0" y="0"/>
            <a:chExt cx="3893771" cy="50800"/>
          </a:xfrm>
        </p:grpSpPr>
        <p:sp>
          <p:nvSpPr>
            <p:cNvPr id="16" name="Freeform 16"/>
            <p:cNvSpPr/>
            <p:nvPr/>
          </p:nvSpPr>
          <p:spPr>
            <a:xfrm>
              <a:off x="25400" y="0"/>
              <a:ext cx="3843020" cy="50800"/>
            </a:xfrm>
            <a:custGeom>
              <a:avLst/>
              <a:gdLst/>
              <a:ahLst/>
              <a:cxnLst/>
              <a:rect l="l" t="t" r="r" b="b"/>
              <a:pathLst>
                <a:path w="3843020" h="50800">
                  <a:moveTo>
                    <a:pt x="0" y="0"/>
                  </a:moveTo>
                  <a:lnTo>
                    <a:pt x="3843020" y="0"/>
                  </a:lnTo>
                  <a:lnTo>
                    <a:pt x="3843020" y="50800"/>
                  </a:lnTo>
                  <a:lnTo>
                    <a:pt x="0" y="50800"/>
                  </a:lnTo>
                  <a:close/>
                </a:path>
              </a:pathLst>
            </a:custGeom>
            <a:solidFill>
              <a:srgbClr val="FFFFFF"/>
            </a:solidFill>
          </p:spPr>
        </p:sp>
      </p:grpSp>
      <p:sp>
        <p:nvSpPr>
          <p:cNvPr id="17" name="Freeform 17"/>
          <p:cNvSpPr/>
          <p:nvPr/>
        </p:nvSpPr>
        <p:spPr>
          <a:xfrm>
            <a:off x="7695433" y="5625897"/>
            <a:ext cx="3235966" cy="2365578"/>
          </a:xfrm>
          <a:custGeom>
            <a:avLst/>
            <a:gdLst/>
            <a:ahLst/>
            <a:cxnLst/>
            <a:rect l="l" t="t" r="r" b="b"/>
            <a:pathLst>
              <a:path w="3235966" h="2365578">
                <a:moveTo>
                  <a:pt x="0" y="0"/>
                </a:moveTo>
                <a:lnTo>
                  <a:pt x="3235966" y="0"/>
                </a:lnTo>
                <a:lnTo>
                  <a:pt x="3235966" y="2365578"/>
                </a:lnTo>
                <a:lnTo>
                  <a:pt x="0" y="2365578"/>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sp>
      <p:grpSp>
        <p:nvGrpSpPr>
          <p:cNvPr id="18" name="Group 18"/>
          <p:cNvGrpSpPr/>
          <p:nvPr/>
        </p:nvGrpSpPr>
        <p:grpSpPr>
          <a:xfrm>
            <a:off x="7933558" y="7305575"/>
            <a:ext cx="2920328" cy="38100"/>
            <a:chOff x="0" y="0"/>
            <a:chExt cx="3893771" cy="50800"/>
          </a:xfrm>
        </p:grpSpPr>
        <p:sp>
          <p:nvSpPr>
            <p:cNvPr id="19" name="Freeform 19"/>
            <p:cNvSpPr/>
            <p:nvPr/>
          </p:nvSpPr>
          <p:spPr>
            <a:xfrm>
              <a:off x="25400" y="0"/>
              <a:ext cx="3843020" cy="50800"/>
            </a:xfrm>
            <a:custGeom>
              <a:avLst/>
              <a:gdLst/>
              <a:ahLst/>
              <a:cxnLst/>
              <a:rect l="l" t="t" r="r" b="b"/>
              <a:pathLst>
                <a:path w="3843020" h="50800">
                  <a:moveTo>
                    <a:pt x="0" y="0"/>
                  </a:moveTo>
                  <a:lnTo>
                    <a:pt x="3843020" y="0"/>
                  </a:lnTo>
                  <a:lnTo>
                    <a:pt x="3843020" y="50800"/>
                  </a:lnTo>
                  <a:lnTo>
                    <a:pt x="0" y="50800"/>
                  </a:lnTo>
                  <a:close/>
                </a:path>
              </a:pathLst>
            </a:custGeom>
            <a:solidFill>
              <a:srgbClr val="FFFFFF"/>
            </a:solidFill>
          </p:spPr>
        </p:sp>
      </p:grpSp>
      <p:sp>
        <p:nvSpPr>
          <p:cNvPr id="20" name="Freeform 20"/>
          <p:cNvSpPr/>
          <p:nvPr/>
        </p:nvSpPr>
        <p:spPr>
          <a:xfrm>
            <a:off x="9327462" y="125435"/>
            <a:ext cx="1446118" cy="1446118"/>
          </a:xfrm>
          <a:custGeom>
            <a:avLst/>
            <a:gdLst/>
            <a:ahLst/>
            <a:cxnLst/>
            <a:rect l="l" t="t" r="r" b="b"/>
            <a:pathLst>
              <a:path w="1446118" h="1446118">
                <a:moveTo>
                  <a:pt x="0" y="0"/>
                </a:moveTo>
                <a:lnTo>
                  <a:pt x="1446118" y="0"/>
                </a:lnTo>
                <a:lnTo>
                  <a:pt x="1446118" y="1446118"/>
                </a:lnTo>
                <a:lnTo>
                  <a:pt x="0" y="1446118"/>
                </a:lnTo>
                <a:lnTo>
                  <a:pt x="0" y="0"/>
                </a:lnTo>
                <a:close/>
              </a:path>
            </a:pathLst>
          </a:custGeom>
          <a:blipFill>
            <a:blip r:embed="rId15">
              <a:extLst>
                <a:ext uri="{96DAC541-7B7A-43D3-8B79-37D633B846F1}">
                  <asvg:svgBlip xmlns:asvg="http://schemas.microsoft.com/office/drawing/2016/SVG/main" xmlns="" r:embed="rId16"/>
                </a:ext>
              </a:extLst>
            </a:blip>
            <a:stretch>
              <a:fillRect/>
            </a:stretch>
          </a:blipFill>
        </p:spPr>
      </p:sp>
      <p:sp>
        <p:nvSpPr>
          <p:cNvPr id="21" name="TextBox 21"/>
          <p:cNvSpPr txBox="1"/>
          <p:nvPr/>
        </p:nvSpPr>
        <p:spPr>
          <a:xfrm>
            <a:off x="1443502" y="9611"/>
            <a:ext cx="8437330" cy="1561942"/>
          </a:xfrm>
          <a:prstGeom prst="rect">
            <a:avLst/>
          </a:prstGeom>
        </p:spPr>
        <p:txBody>
          <a:bodyPr lIns="0" tIns="0" rIns="0" bIns="0" rtlCol="0" anchor="t">
            <a:spAutoFit/>
          </a:bodyPr>
          <a:lstStyle/>
          <a:p>
            <a:pPr algn="ctr">
              <a:lnSpc>
                <a:spcPts val="12001"/>
              </a:lnSpc>
            </a:pPr>
            <a:r>
              <a:rPr lang="en-US" sz="9999" b="1" spc="95">
                <a:solidFill>
                  <a:srgbClr val="FFFFFF"/>
                </a:solidFill>
                <a:latin typeface="Arimo Bold"/>
                <a:ea typeface="Arimo Bold"/>
                <a:cs typeface="Arimo Bold"/>
                <a:sym typeface="Arimo Bold"/>
              </a:rPr>
              <a:t>Over View</a:t>
            </a:r>
          </a:p>
        </p:txBody>
      </p:sp>
      <p:sp>
        <p:nvSpPr>
          <p:cNvPr id="22" name="TextBox 22"/>
          <p:cNvSpPr txBox="1"/>
          <p:nvPr/>
        </p:nvSpPr>
        <p:spPr>
          <a:xfrm>
            <a:off x="892739" y="4029158"/>
            <a:ext cx="2318467" cy="314375"/>
          </a:xfrm>
          <a:prstGeom prst="rect">
            <a:avLst/>
          </a:prstGeom>
        </p:spPr>
        <p:txBody>
          <a:bodyPr lIns="0" tIns="0" rIns="0" bIns="0" rtlCol="0" anchor="t">
            <a:spAutoFit/>
          </a:bodyPr>
          <a:lstStyle/>
          <a:p>
            <a:pPr algn="ctr">
              <a:lnSpc>
                <a:spcPts val="2604"/>
              </a:lnSpc>
            </a:pPr>
            <a:r>
              <a:rPr lang="en-US" sz="2400" b="1" spc="22">
                <a:solidFill>
                  <a:srgbClr val="FFFFFF"/>
                </a:solidFill>
                <a:latin typeface="TT Phobos Bold"/>
                <a:ea typeface="TT Phobos Bold"/>
                <a:cs typeface="TT Phobos Bold"/>
                <a:sym typeface="TT Phobos Bold"/>
              </a:rPr>
              <a:t>Introduction</a:t>
            </a:r>
          </a:p>
        </p:txBody>
      </p:sp>
      <p:sp>
        <p:nvSpPr>
          <p:cNvPr id="23" name="TextBox 23"/>
          <p:cNvSpPr txBox="1"/>
          <p:nvPr/>
        </p:nvSpPr>
        <p:spPr>
          <a:xfrm>
            <a:off x="1129503" y="2426818"/>
            <a:ext cx="1690455" cy="1107146"/>
          </a:xfrm>
          <a:prstGeom prst="rect">
            <a:avLst/>
          </a:prstGeom>
        </p:spPr>
        <p:txBody>
          <a:bodyPr lIns="0" tIns="0" rIns="0" bIns="0" rtlCol="0" anchor="t">
            <a:spAutoFit/>
          </a:bodyPr>
          <a:lstStyle/>
          <a:p>
            <a:pPr algn="ctr">
              <a:lnSpc>
                <a:spcPts val="7914"/>
              </a:lnSpc>
            </a:pPr>
            <a:r>
              <a:rPr lang="en-US" sz="5735" b="1">
                <a:solidFill>
                  <a:srgbClr val="FFFFFF"/>
                </a:solidFill>
                <a:latin typeface="Arimo Bold"/>
                <a:ea typeface="Arimo Bold"/>
                <a:cs typeface="Arimo Bold"/>
                <a:sym typeface="Arimo Bold"/>
              </a:rPr>
              <a:t>01</a:t>
            </a:r>
          </a:p>
        </p:txBody>
      </p:sp>
      <p:sp>
        <p:nvSpPr>
          <p:cNvPr id="24" name="TextBox 24"/>
          <p:cNvSpPr txBox="1"/>
          <p:nvPr/>
        </p:nvSpPr>
        <p:spPr>
          <a:xfrm>
            <a:off x="4188934" y="4029158"/>
            <a:ext cx="2318467" cy="314375"/>
          </a:xfrm>
          <a:prstGeom prst="rect">
            <a:avLst/>
          </a:prstGeom>
        </p:spPr>
        <p:txBody>
          <a:bodyPr lIns="0" tIns="0" rIns="0" bIns="0" rtlCol="0" anchor="t">
            <a:spAutoFit/>
          </a:bodyPr>
          <a:lstStyle/>
          <a:p>
            <a:pPr algn="ctr">
              <a:lnSpc>
                <a:spcPts val="2604"/>
              </a:lnSpc>
            </a:pPr>
            <a:r>
              <a:rPr lang="en-US" sz="2400" b="1" spc="22">
                <a:solidFill>
                  <a:srgbClr val="FFFFFF"/>
                </a:solidFill>
                <a:latin typeface="TT Phobos Bold"/>
                <a:ea typeface="TT Phobos Bold"/>
                <a:cs typeface="TT Phobos Bold"/>
                <a:sym typeface="TT Phobos Bold"/>
              </a:rPr>
              <a:t>Method</a:t>
            </a:r>
          </a:p>
        </p:txBody>
      </p:sp>
      <p:sp>
        <p:nvSpPr>
          <p:cNvPr id="25" name="TextBox 25"/>
          <p:cNvSpPr txBox="1"/>
          <p:nvPr/>
        </p:nvSpPr>
        <p:spPr>
          <a:xfrm>
            <a:off x="4502940" y="2426818"/>
            <a:ext cx="1690455" cy="1107146"/>
          </a:xfrm>
          <a:prstGeom prst="rect">
            <a:avLst/>
          </a:prstGeom>
        </p:spPr>
        <p:txBody>
          <a:bodyPr lIns="0" tIns="0" rIns="0" bIns="0" rtlCol="0" anchor="t">
            <a:spAutoFit/>
          </a:bodyPr>
          <a:lstStyle/>
          <a:p>
            <a:pPr algn="ctr">
              <a:lnSpc>
                <a:spcPts val="7914"/>
              </a:lnSpc>
            </a:pPr>
            <a:r>
              <a:rPr lang="en-US" sz="5735" b="1">
                <a:solidFill>
                  <a:srgbClr val="FFFFFF"/>
                </a:solidFill>
                <a:latin typeface="Arimo Bold"/>
                <a:ea typeface="Arimo Bold"/>
                <a:cs typeface="Arimo Bold"/>
                <a:sym typeface="Arimo Bold"/>
              </a:rPr>
              <a:t>02</a:t>
            </a:r>
          </a:p>
        </p:txBody>
      </p:sp>
      <p:sp>
        <p:nvSpPr>
          <p:cNvPr id="26" name="TextBox 26"/>
          <p:cNvSpPr txBox="1"/>
          <p:nvPr/>
        </p:nvSpPr>
        <p:spPr>
          <a:xfrm>
            <a:off x="931360" y="7510387"/>
            <a:ext cx="2318467" cy="314375"/>
          </a:xfrm>
          <a:prstGeom prst="rect">
            <a:avLst/>
          </a:prstGeom>
        </p:spPr>
        <p:txBody>
          <a:bodyPr lIns="0" tIns="0" rIns="0" bIns="0" rtlCol="0" anchor="t">
            <a:spAutoFit/>
          </a:bodyPr>
          <a:lstStyle/>
          <a:p>
            <a:pPr algn="ctr">
              <a:lnSpc>
                <a:spcPts val="2604"/>
              </a:lnSpc>
            </a:pPr>
            <a:r>
              <a:rPr lang="en-US" sz="2400" b="1" spc="22">
                <a:solidFill>
                  <a:srgbClr val="FFFFFF"/>
                </a:solidFill>
                <a:latin typeface="TT Phobos Bold"/>
                <a:ea typeface="TT Phobos Bold"/>
                <a:cs typeface="TT Phobos Bold"/>
                <a:sym typeface="TT Phobos Bold"/>
              </a:rPr>
              <a:t>Discussion</a:t>
            </a:r>
          </a:p>
        </p:txBody>
      </p:sp>
      <p:sp>
        <p:nvSpPr>
          <p:cNvPr id="27" name="TextBox 27"/>
          <p:cNvSpPr txBox="1"/>
          <p:nvPr/>
        </p:nvSpPr>
        <p:spPr>
          <a:xfrm>
            <a:off x="1129503" y="5898193"/>
            <a:ext cx="1690455" cy="1107146"/>
          </a:xfrm>
          <a:prstGeom prst="rect">
            <a:avLst/>
          </a:prstGeom>
        </p:spPr>
        <p:txBody>
          <a:bodyPr lIns="0" tIns="0" rIns="0" bIns="0" rtlCol="0" anchor="t">
            <a:spAutoFit/>
          </a:bodyPr>
          <a:lstStyle/>
          <a:p>
            <a:pPr algn="ctr">
              <a:lnSpc>
                <a:spcPts val="7914"/>
              </a:lnSpc>
            </a:pPr>
            <a:r>
              <a:rPr lang="en-US" sz="5735" b="1">
                <a:solidFill>
                  <a:srgbClr val="FFFFFF"/>
                </a:solidFill>
                <a:latin typeface="Arimo Bold"/>
                <a:ea typeface="Arimo Bold"/>
                <a:cs typeface="Arimo Bold"/>
                <a:sym typeface="Arimo Bold"/>
              </a:rPr>
              <a:t>04</a:t>
            </a:r>
          </a:p>
        </p:txBody>
      </p:sp>
      <p:sp>
        <p:nvSpPr>
          <p:cNvPr id="28" name="TextBox 28"/>
          <p:cNvSpPr txBox="1"/>
          <p:nvPr/>
        </p:nvSpPr>
        <p:spPr>
          <a:xfrm>
            <a:off x="4293198" y="7510387"/>
            <a:ext cx="2318467" cy="314375"/>
          </a:xfrm>
          <a:prstGeom prst="rect">
            <a:avLst/>
          </a:prstGeom>
        </p:spPr>
        <p:txBody>
          <a:bodyPr lIns="0" tIns="0" rIns="0" bIns="0" rtlCol="0" anchor="t">
            <a:spAutoFit/>
          </a:bodyPr>
          <a:lstStyle/>
          <a:p>
            <a:pPr algn="ctr">
              <a:lnSpc>
                <a:spcPts val="2604"/>
              </a:lnSpc>
            </a:pPr>
            <a:r>
              <a:rPr lang="en-US" sz="2400" b="1" spc="22">
                <a:solidFill>
                  <a:srgbClr val="FFFFFF"/>
                </a:solidFill>
                <a:latin typeface="TT Phobos Bold"/>
                <a:ea typeface="TT Phobos Bold"/>
                <a:cs typeface="TT Phobos Bold"/>
                <a:sym typeface="TT Phobos Bold"/>
              </a:rPr>
              <a:t>Conclusion</a:t>
            </a:r>
          </a:p>
        </p:txBody>
      </p:sp>
      <p:sp>
        <p:nvSpPr>
          <p:cNvPr id="29" name="TextBox 29"/>
          <p:cNvSpPr txBox="1"/>
          <p:nvPr/>
        </p:nvSpPr>
        <p:spPr>
          <a:xfrm>
            <a:off x="4502940" y="5898193"/>
            <a:ext cx="1690455" cy="1107146"/>
          </a:xfrm>
          <a:prstGeom prst="rect">
            <a:avLst/>
          </a:prstGeom>
        </p:spPr>
        <p:txBody>
          <a:bodyPr lIns="0" tIns="0" rIns="0" bIns="0" rtlCol="0" anchor="t">
            <a:spAutoFit/>
          </a:bodyPr>
          <a:lstStyle/>
          <a:p>
            <a:pPr algn="ctr">
              <a:lnSpc>
                <a:spcPts val="7914"/>
              </a:lnSpc>
            </a:pPr>
            <a:r>
              <a:rPr lang="en-US" sz="5735" b="1">
                <a:solidFill>
                  <a:srgbClr val="FFFFFF"/>
                </a:solidFill>
                <a:latin typeface="Arimo Bold"/>
                <a:ea typeface="Arimo Bold"/>
                <a:cs typeface="Arimo Bold"/>
                <a:sym typeface="Arimo Bold"/>
              </a:rPr>
              <a:t>05</a:t>
            </a:r>
          </a:p>
        </p:txBody>
      </p:sp>
      <p:sp>
        <p:nvSpPr>
          <p:cNvPr id="30" name="TextBox 30"/>
          <p:cNvSpPr txBox="1"/>
          <p:nvPr/>
        </p:nvSpPr>
        <p:spPr>
          <a:xfrm>
            <a:off x="8154182" y="4029158"/>
            <a:ext cx="2318467" cy="314375"/>
          </a:xfrm>
          <a:prstGeom prst="rect">
            <a:avLst/>
          </a:prstGeom>
        </p:spPr>
        <p:txBody>
          <a:bodyPr lIns="0" tIns="0" rIns="0" bIns="0" rtlCol="0" anchor="t">
            <a:spAutoFit/>
          </a:bodyPr>
          <a:lstStyle/>
          <a:p>
            <a:pPr algn="ctr">
              <a:lnSpc>
                <a:spcPts val="2604"/>
              </a:lnSpc>
            </a:pPr>
            <a:r>
              <a:rPr lang="en-US" sz="2400" b="1" spc="22">
                <a:solidFill>
                  <a:srgbClr val="FFFFFF"/>
                </a:solidFill>
                <a:latin typeface="TT Phobos Bold"/>
                <a:ea typeface="TT Phobos Bold"/>
                <a:cs typeface="TT Phobos Bold"/>
                <a:sym typeface="TT Phobos Bold"/>
              </a:rPr>
              <a:t>Results</a:t>
            </a:r>
          </a:p>
        </p:txBody>
      </p:sp>
      <p:sp>
        <p:nvSpPr>
          <p:cNvPr id="31" name="TextBox 31"/>
          <p:cNvSpPr txBox="1"/>
          <p:nvPr/>
        </p:nvSpPr>
        <p:spPr>
          <a:xfrm>
            <a:off x="8457433" y="2426818"/>
            <a:ext cx="1690455" cy="1002411"/>
          </a:xfrm>
          <a:prstGeom prst="rect">
            <a:avLst/>
          </a:prstGeom>
        </p:spPr>
        <p:txBody>
          <a:bodyPr lIns="0" tIns="0" rIns="0" bIns="0" rtlCol="0" anchor="t">
            <a:spAutoFit/>
          </a:bodyPr>
          <a:lstStyle/>
          <a:p>
            <a:pPr algn="ctr">
              <a:lnSpc>
                <a:spcPts val="7914"/>
              </a:lnSpc>
            </a:pPr>
            <a:r>
              <a:rPr lang="en-US" sz="5735" b="1">
                <a:solidFill>
                  <a:srgbClr val="FFFFFF"/>
                </a:solidFill>
                <a:latin typeface="Arimo Bold"/>
                <a:ea typeface="Arimo Bold"/>
                <a:cs typeface="Arimo Bold"/>
                <a:sym typeface="Arimo Bold"/>
              </a:rPr>
              <a:t>03</a:t>
            </a:r>
          </a:p>
        </p:txBody>
      </p:sp>
      <p:sp>
        <p:nvSpPr>
          <p:cNvPr id="32" name="TextBox 32"/>
          <p:cNvSpPr txBox="1"/>
          <p:nvPr/>
        </p:nvSpPr>
        <p:spPr>
          <a:xfrm>
            <a:off x="7631538" y="7510387"/>
            <a:ext cx="3299861" cy="314375"/>
          </a:xfrm>
          <a:prstGeom prst="rect">
            <a:avLst/>
          </a:prstGeom>
        </p:spPr>
        <p:txBody>
          <a:bodyPr lIns="0" tIns="0" rIns="0" bIns="0" rtlCol="0" anchor="t">
            <a:spAutoFit/>
          </a:bodyPr>
          <a:lstStyle/>
          <a:p>
            <a:pPr algn="ctr">
              <a:lnSpc>
                <a:spcPts val="2604"/>
              </a:lnSpc>
            </a:pPr>
            <a:r>
              <a:rPr lang="en-US" sz="2400" b="1" spc="22">
                <a:solidFill>
                  <a:srgbClr val="FFFFFF"/>
                </a:solidFill>
                <a:latin typeface="TT Phobos Bold"/>
                <a:ea typeface="TT Phobos Bold"/>
                <a:cs typeface="TT Phobos Bold"/>
                <a:sym typeface="TT Phobos Bold"/>
              </a:rPr>
              <a:t>Acknowledgement</a:t>
            </a:r>
          </a:p>
        </p:txBody>
      </p:sp>
      <p:sp>
        <p:nvSpPr>
          <p:cNvPr id="33" name="TextBox 33"/>
          <p:cNvSpPr txBox="1"/>
          <p:nvPr/>
        </p:nvSpPr>
        <p:spPr>
          <a:xfrm>
            <a:off x="8468188" y="5922204"/>
            <a:ext cx="1690455" cy="1107146"/>
          </a:xfrm>
          <a:prstGeom prst="rect">
            <a:avLst/>
          </a:prstGeom>
        </p:spPr>
        <p:txBody>
          <a:bodyPr lIns="0" tIns="0" rIns="0" bIns="0" rtlCol="0" anchor="t">
            <a:spAutoFit/>
          </a:bodyPr>
          <a:lstStyle/>
          <a:p>
            <a:pPr algn="ctr">
              <a:lnSpc>
                <a:spcPts val="7914"/>
              </a:lnSpc>
            </a:pPr>
            <a:r>
              <a:rPr lang="en-US" sz="5735" b="1">
                <a:solidFill>
                  <a:srgbClr val="FFFFFF"/>
                </a:solidFill>
                <a:latin typeface="Arimo Bold"/>
                <a:ea typeface="Arimo Bold"/>
                <a:cs typeface="Arimo Bold"/>
                <a:sym typeface="Arimo Bold"/>
              </a:rPr>
              <a:t>06</a:t>
            </a:r>
          </a:p>
        </p:txBody>
      </p:sp>
      <p:grpSp>
        <p:nvGrpSpPr>
          <p:cNvPr id="34" name="Group 34"/>
          <p:cNvGrpSpPr/>
          <p:nvPr/>
        </p:nvGrpSpPr>
        <p:grpSpPr>
          <a:xfrm>
            <a:off x="4293198" y="3814952"/>
            <a:ext cx="2241225" cy="47625"/>
            <a:chOff x="0" y="0"/>
            <a:chExt cx="2988300" cy="63500"/>
          </a:xfrm>
        </p:grpSpPr>
        <p:sp>
          <p:nvSpPr>
            <p:cNvPr id="35" name="Freeform 35"/>
            <p:cNvSpPr/>
            <p:nvPr/>
          </p:nvSpPr>
          <p:spPr>
            <a:xfrm>
              <a:off x="25400" y="0"/>
              <a:ext cx="2937510" cy="63500"/>
            </a:xfrm>
            <a:custGeom>
              <a:avLst/>
              <a:gdLst/>
              <a:ahLst/>
              <a:cxnLst/>
              <a:rect l="l" t="t" r="r" b="b"/>
              <a:pathLst>
                <a:path w="2937510" h="63500">
                  <a:moveTo>
                    <a:pt x="0" y="0"/>
                  </a:moveTo>
                  <a:lnTo>
                    <a:pt x="2937510" y="0"/>
                  </a:lnTo>
                  <a:lnTo>
                    <a:pt x="2937510" y="63500"/>
                  </a:lnTo>
                  <a:lnTo>
                    <a:pt x="0" y="63500"/>
                  </a:lnTo>
                  <a:close/>
                </a:path>
              </a:pathLst>
            </a:custGeom>
            <a:solidFill>
              <a:srgbClr val="FFFFFF"/>
            </a:solidFill>
          </p:spPr>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 name="TextBox 2"/>
          <p:cNvSpPr txBox="1"/>
          <p:nvPr/>
        </p:nvSpPr>
        <p:spPr>
          <a:xfrm>
            <a:off x="0" y="3234889"/>
            <a:ext cx="13793551" cy="5372100"/>
          </a:xfrm>
          <a:prstGeom prst="rect">
            <a:avLst/>
          </a:prstGeom>
        </p:spPr>
        <p:txBody>
          <a:bodyPr lIns="0" tIns="0" rIns="0" bIns="0" rtlCol="0" anchor="t">
            <a:spAutoFit/>
          </a:bodyPr>
          <a:lstStyle/>
          <a:p>
            <a:pPr marL="995678" lvl="2" indent="-331893" algn="l">
              <a:lnSpc>
                <a:spcPts val="3839"/>
              </a:lnSpc>
              <a:buFont typeface="Arial"/>
              <a:buChar char="⚬"/>
            </a:pPr>
            <a:r>
              <a:rPr lang="en-US" sz="3199">
                <a:solidFill>
                  <a:srgbClr val="FFFFFF"/>
                </a:solidFill>
                <a:latin typeface="Arimo"/>
                <a:ea typeface="Arimo"/>
                <a:cs typeface="Arimo"/>
                <a:sym typeface="Arimo"/>
              </a:rPr>
              <a:t>Financial institutions face challenges from borrowers who cannot repay debts and from fraud that exploits weaknesses in the lending system. These issues can lead to serious emotional and financial consequences for both the institutions and the individuals involved.</a:t>
            </a:r>
          </a:p>
          <a:p>
            <a:pPr marL="995678" lvl="2" indent="-331893" algn="l">
              <a:lnSpc>
                <a:spcPts val="3839"/>
              </a:lnSpc>
            </a:pPr>
            <a:endParaRPr lang="en-US" sz="3199">
              <a:solidFill>
                <a:srgbClr val="FFFFFF"/>
              </a:solidFill>
              <a:latin typeface="Arimo"/>
              <a:ea typeface="Arimo"/>
              <a:cs typeface="Arimo"/>
              <a:sym typeface="Arimo"/>
            </a:endParaRPr>
          </a:p>
          <a:p>
            <a:pPr marL="995678" lvl="2" indent="-331893" algn="l">
              <a:lnSpc>
                <a:spcPts val="3839"/>
              </a:lnSpc>
            </a:pPr>
            <a:endParaRPr lang="en-US" sz="3199">
              <a:solidFill>
                <a:srgbClr val="FFFFFF"/>
              </a:solidFill>
              <a:latin typeface="Arimo"/>
              <a:ea typeface="Arimo"/>
              <a:cs typeface="Arimo"/>
              <a:sym typeface="Arimo"/>
            </a:endParaRPr>
          </a:p>
          <a:p>
            <a:pPr marL="995678" lvl="2" indent="-331893" algn="l">
              <a:lnSpc>
                <a:spcPts val="3839"/>
              </a:lnSpc>
              <a:buFont typeface="Arial"/>
              <a:buChar char="⚬"/>
            </a:pPr>
            <a:r>
              <a:rPr lang="en-US" sz="3199">
                <a:solidFill>
                  <a:srgbClr val="FFFFFF"/>
                </a:solidFill>
                <a:latin typeface="Arimo"/>
                <a:ea typeface="Arimo"/>
                <a:cs typeface="Arimo"/>
                <a:sym typeface="Arimo"/>
              </a:rPr>
              <a:t>Over the past few years, the financial institutions has experienced a sharp increase in the number of charged -  off accounts.</a:t>
            </a:r>
          </a:p>
          <a:p>
            <a:pPr marL="995678" lvl="2" indent="-331893" algn="l">
              <a:lnSpc>
                <a:spcPts val="3839"/>
              </a:lnSpc>
            </a:pPr>
            <a:endParaRPr lang="en-US" sz="3199">
              <a:solidFill>
                <a:srgbClr val="FFFFFF"/>
              </a:solidFill>
              <a:latin typeface="Arimo"/>
              <a:ea typeface="Arimo"/>
              <a:cs typeface="Arimo"/>
              <a:sym typeface="Arimo"/>
            </a:endParaRPr>
          </a:p>
          <a:p>
            <a:pPr marL="995678" lvl="2" indent="-331893" algn="l">
              <a:lnSpc>
                <a:spcPts val="3839"/>
              </a:lnSpc>
            </a:pPr>
            <a:endParaRPr lang="en-US" sz="3199">
              <a:solidFill>
                <a:srgbClr val="FFFFFF"/>
              </a:solidFill>
              <a:latin typeface="Arimo"/>
              <a:ea typeface="Arimo"/>
              <a:cs typeface="Arimo"/>
              <a:sym typeface="Arimo"/>
            </a:endParaRPr>
          </a:p>
          <a:p>
            <a:pPr marL="995678" lvl="2" indent="-331893" algn="l">
              <a:lnSpc>
                <a:spcPts val="3839"/>
              </a:lnSpc>
            </a:pPr>
            <a:endParaRPr lang="en-US" sz="3199">
              <a:solidFill>
                <a:srgbClr val="FFFFFF"/>
              </a:solidFill>
              <a:latin typeface="Arimo"/>
              <a:ea typeface="Arimo"/>
              <a:cs typeface="Arimo"/>
              <a:sym typeface="Arimo"/>
            </a:endParaRPr>
          </a:p>
        </p:txBody>
      </p:sp>
      <p:sp>
        <p:nvSpPr>
          <p:cNvPr id="3" name="Freeform 3"/>
          <p:cNvSpPr/>
          <p:nvPr/>
        </p:nvSpPr>
        <p:spPr>
          <a:xfrm>
            <a:off x="1724533" y="394860"/>
            <a:ext cx="1197170" cy="1210374"/>
          </a:xfrm>
          <a:custGeom>
            <a:avLst/>
            <a:gdLst/>
            <a:ahLst/>
            <a:cxnLst/>
            <a:rect l="l" t="t" r="r" b="b"/>
            <a:pathLst>
              <a:path w="1197170" h="1210374">
                <a:moveTo>
                  <a:pt x="0" y="0"/>
                </a:moveTo>
                <a:lnTo>
                  <a:pt x="1197170" y="0"/>
                </a:lnTo>
                <a:lnTo>
                  <a:pt x="1197170" y="1210374"/>
                </a:lnTo>
                <a:lnTo>
                  <a:pt x="0" y="1210374"/>
                </a:lnTo>
                <a:lnTo>
                  <a:pt x="0" y="0"/>
                </a:lnTo>
                <a:close/>
              </a:path>
            </a:pathLst>
          </a:custGeom>
          <a:blipFill>
            <a:blip r:embed="rId2">
              <a:extLst>
                <a:ext uri="{96DAC541-7B7A-43D3-8B79-37D633B846F1}">
                  <asvg:svgBlip xmlns:asvg="http://schemas.microsoft.com/office/drawing/2016/SVG/main" xmlns="" r:embed="rId3"/>
                </a:ext>
              </a:extLst>
            </a:blip>
            <a:stretch>
              <a:fillRect t="-239" b="-239"/>
            </a:stretch>
          </a:blipFill>
        </p:spPr>
      </p:sp>
      <p:grpSp>
        <p:nvGrpSpPr>
          <p:cNvPr id="4" name="Group 4"/>
          <p:cNvGrpSpPr/>
          <p:nvPr/>
        </p:nvGrpSpPr>
        <p:grpSpPr>
          <a:xfrm rot="6150721">
            <a:off x="7875797" y="4579545"/>
            <a:ext cx="13544802" cy="1127911"/>
            <a:chOff x="0" y="0"/>
            <a:chExt cx="18059736" cy="1503881"/>
          </a:xfrm>
        </p:grpSpPr>
        <p:sp>
          <p:nvSpPr>
            <p:cNvPr id="5" name="Freeform 5"/>
            <p:cNvSpPr/>
            <p:nvPr/>
          </p:nvSpPr>
          <p:spPr>
            <a:xfrm>
              <a:off x="0" y="0"/>
              <a:ext cx="18059781" cy="1503934"/>
            </a:xfrm>
            <a:custGeom>
              <a:avLst/>
              <a:gdLst/>
              <a:ahLst/>
              <a:cxnLst/>
              <a:rect l="l" t="t" r="r" b="b"/>
              <a:pathLst>
                <a:path w="18059781" h="1503934">
                  <a:moveTo>
                    <a:pt x="0" y="0"/>
                  </a:moveTo>
                  <a:lnTo>
                    <a:pt x="18059781" y="0"/>
                  </a:lnTo>
                  <a:lnTo>
                    <a:pt x="18059781" y="1503934"/>
                  </a:lnTo>
                  <a:lnTo>
                    <a:pt x="0" y="1503934"/>
                  </a:lnTo>
                  <a:lnTo>
                    <a:pt x="0" y="0"/>
                  </a:lnTo>
                  <a:close/>
                </a:path>
              </a:pathLst>
            </a:custGeom>
            <a:blipFill>
              <a:blip r:embed="rId4"/>
              <a:stretch>
                <a:fillRect t="-68840" b="-68836"/>
              </a:stretch>
            </a:blipFill>
          </p:spPr>
        </p:sp>
      </p:grpSp>
      <p:grpSp>
        <p:nvGrpSpPr>
          <p:cNvPr id="6" name="Group 6"/>
          <p:cNvGrpSpPr/>
          <p:nvPr/>
        </p:nvGrpSpPr>
        <p:grpSpPr>
          <a:xfrm>
            <a:off x="13793551" y="0"/>
            <a:ext cx="6299161" cy="10287000"/>
            <a:chOff x="0" y="0"/>
            <a:chExt cx="8398882" cy="13716000"/>
          </a:xfrm>
        </p:grpSpPr>
        <p:sp>
          <p:nvSpPr>
            <p:cNvPr id="7" name="Freeform 7"/>
            <p:cNvSpPr/>
            <p:nvPr/>
          </p:nvSpPr>
          <p:spPr>
            <a:xfrm>
              <a:off x="0" y="0"/>
              <a:ext cx="8398902" cy="13716000"/>
            </a:xfrm>
            <a:custGeom>
              <a:avLst/>
              <a:gdLst/>
              <a:ahLst/>
              <a:cxnLst/>
              <a:rect l="l" t="t" r="r" b="b"/>
              <a:pathLst>
                <a:path w="8398902" h="13716000">
                  <a:moveTo>
                    <a:pt x="8398902" y="0"/>
                  </a:moveTo>
                  <a:lnTo>
                    <a:pt x="5094446" y="13716000"/>
                  </a:lnTo>
                  <a:lnTo>
                    <a:pt x="0" y="13716000"/>
                  </a:lnTo>
                  <a:lnTo>
                    <a:pt x="3304457" y="0"/>
                  </a:lnTo>
                  <a:lnTo>
                    <a:pt x="8398902" y="0"/>
                  </a:lnTo>
                  <a:close/>
                </a:path>
              </a:pathLst>
            </a:custGeom>
            <a:blipFill>
              <a:blip r:embed="rId5"/>
              <a:stretch>
                <a:fillRect l="-72480" r="-72480"/>
              </a:stretch>
            </a:blipFill>
          </p:spPr>
        </p:sp>
      </p:grpSp>
      <p:grpSp>
        <p:nvGrpSpPr>
          <p:cNvPr id="8" name="Group 8"/>
          <p:cNvGrpSpPr/>
          <p:nvPr/>
        </p:nvGrpSpPr>
        <p:grpSpPr>
          <a:xfrm rot="-4615544">
            <a:off x="12308284" y="5594692"/>
            <a:ext cx="13544802" cy="1127911"/>
            <a:chOff x="0" y="0"/>
            <a:chExt cx="18059736" cy="1503881"/>
          </a:xfrm>
        </p:grpSpPr>
        <p:sp>
          <p:nvSpPr>
            <p:cNvPr id="9" name="Freeform 9"/>
            <p:cNvSpPr/>
            <p:nvPr/>
          </p:nvSpPr>
          <p:spPr>
            <a:xfrm>
              <a:off x="0" y="0"/>
              <a:ext cx="18059781" cy="1503934"/>
            </a:xfrm>
            <a:custGeom>
              <a:avLst/>
              <a:gdLst/>
              <a:ahLst/>
              <a:cxnLst/>
              <a:rect l="l" t="t" r="r" b="b"/>
              <a:pathLst>
                <a:path w="18059781" h="1503934">
                  <a:moveTo>
                    <a:pt x="0" y="0"/>
                  </a:moveTo>
                  <a:lnTo>
                    <a:pt x="18059781" y="0"/>
                  </a:lnTo>
                  <a:lnTo>
                    <a:pt x="18059781" y="1503934"/>
                  </a:lnTo>
                  <a:lnTo>
                    <a:pt x="0" y="1503934"/>
                  </a:lnTo>
                  <a:lnTo>
                    <a:pt x="0" y="0"/>
                  </a:lnTo>
                  <a:close/>
                </a:path>
              </a:pathLst>
            </a:custGeom>
            <a:blipFill>
              <a:blip r:embed="rId4"/>
              <a:stretch>
                <a:fillRect t="-68840" b="-68836"/>
              </a:stretch>
            </a:blipFill>
          </p:spPr>
        </p:sp>
      </p:grpSp>
      <p:sp>
        <p:nvSpPr>
          <p:cNvPr id="10" name="Freeform 10"/>
          <p:cNvSpPr/>
          <p:nvPr/>
        </p:nvSpPr>
        <p:spPr>
          <a:xfrm rot="-10800000">
            <a:off x="26312155" y="9410442"/>
            <a:ext cx="3112237" cy="3112237"/>
          </a:xfrm>
          <a:custGeom>
            <a:avLst/>
            <a:gdLst/>
            <a:ahLst/>
            <a:cxnLst/>
            <a:rect l="l" t="t" r="r" b="b"/>
            <a:pathLst>
              <a:path w="3112237" h="3112237">
                <a:moveTo>
                  <a:pt x="0" y="0"/>
                </a:moveTo>
                <a:lnTo>
                  <a:pt x="3112237" y="0"/>
                </a:lnTo>
                <a:lnTo>
                  <a:pt x="3112237" y="3112237"/>
                </a:lnTo>
                <a:lnTo>
                  <a:pt x="0" y="3112237"/>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1" name="Freeform 11"/>
          <p:cNvSpPr/>
          <p:nvPr/>
        </p:nvSpPr>
        <p:spPr>
          <a:xfrm rot="-10800000">
            <a:off x="22862082" y="9410441"/>
            <a:ext cx="3112237" cy="2466059"/>
          </a:xfrm>
          <a:custGeom>
            <a:avLst/>
            <a:gdLst/>
            <a:ahLst/>
            <a:cxnLst/>
            <a:rect l="l" t="t" r="r" b="b"/>
            <a:pathLst>
              <a:path w="3112237" h="2466059">
                <a:moveTo>
                  <a:pt x="0" y="0"/>
                </a:moveTo>
                <a:lnTo>
                  <a:pt x="3112237" y="0"/>
                </a:lnTo>
                <a:lnTo>
                  <a:pt x="3112237" y="2466059"/>
                </a:lnTo>
                <a:lnTo>
                  <a:pt x="0" y="2466059"/>
                </a:lnTo>
                <a:lnTo>
                  <a:pt x="0" y="0"/>
                </a:lnTo>
                <a:close/>
              </a:path>
            </a:pathLst>
          </a:custGeom>
          <a:blipFill>
            <a:blip r:embed="rId6">
              <a:extLst>
                <a:ext uri="{96DAC541-7B7A-43D3-8B79-37D633B846F1}">
                  <asvg:svgBlip xmlns:asvg="http://schemas.microsoft.com/office/drawing/2016/SVG/main" xmlns="" r:embed="rId7"/>
                </a:ext>
              </a:extLst>
            </a:blip>
            <a:stretch>
              <a:fillRect t="-13101" b="-13101"/>
            </a:stretch>
          </a:blipFill>
        </p:spPr>
      </p:sp>
      <p:sp>
        <p:nvSpPr>
          <p:cNvPr id="12" name="Freeform 12"/>
          <p:cNvSpPr/>
          <p:nvPr/>
        </p:nvSpPr>
        <p:spPr>
          <a:xfrm rot="-10800000">
            <a:off x="19416469" y="9258301"/>
            <a:ext cx="3112237" cy="3112237"/>
          </a:xfrm>
          <a:custGeom>
            <a:avLst/>
            <a:gdLst/>
            <a:ahLst/>
            <a:cxnLst/>
            <a:rect l="l" t="t" r="r" b="b"/>
            <a:pathLst>
              <a:path w="3112237" h="3112237">
                <a:moveTo>
                  <a:pt x="0" y="0"/>
                </a:moveTo>
                <a:lnTo>
                  <a:pt x="3112237" y="0"/>
                </a:lnTo>
                <a:lnTo>
                  <a:pt x="3112237" y="3112237"/>
                </a:lnTo>
                <a:lnTo>
                  <a:pt x="0" y="3112237"/>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3" name="TextBox 13"/>
          <p:cNvSpPr txBox="1"/>
          <p:nvPr/>
        </p:nvSpPr>
        <p:spPr>
          <a:xfrm>
            <a:off x="2921703" y="356760"/>
            <a:ext cx="8139443" cy="1561942"/>
          </a:xfrm>
          <a:prstGeom prst="rect">
            <a:avLst/>
          </a:prstGeom>
        </p:spPr>
        <p:txBody>
          <a:bodyPr lIns="0" tIns="0" rIns="0" bIns="0" rtlCol="0" anchor="t">
            <a:spAutoFit/>
          </a:bodyPr>
          <a:lstStyle/>
          <a:p>
            <a:pPr algn="ctr">
              <a:lnSpc>
                <a:spcPts val="12001"/>
              </a:lnSpc>
            </a:pPr>
            <a:r>
              <a:rPr lang="en-US" sz="9999" b="1" spc="95">
                <a:solidFill>
                  <a:srgbClr val="FFFFFF"/>
                </a:solidFill>
                <a:latin typeface="Arimo Bold"/>
                <a:ea typeface="Arimo Bold"/>
                <a:cs typeface="Arimo Bold"/>
                <a:sym typeface="Arimo Bold"/>
              </a:rPr>
              <a:t>Introduction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2557312" y="4699474"/>
            <a:ext cx="1137117" cy="1137117"/>
          </a:xfrm>
          <a:custGeom>
            <a:avLst/>
            <a:gdLst/>
            <a:ahLst/>
            <a:cxnLst/>
            <a:rect l="l" t="t" r="r" b="b"/>
            <a:pathLst>
              <a:path w="1137117" h="1137117">
                <a:moveTo>
                  <a:pt x="0" y="0"/>
                </a:moveTo>
                <a:lnTo>
                  <a:pt x="1137117" y="0"/>
                </a:lnTo>
                <a:lnTo>
                  <a:pt x="1137117" y="1137117"/>
                </a:lnTo>
                <a:lnTo>
                  <a:pt x="0" y="113711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2434923" y="7852312"/>
            <a:ext cx="1525382" cy="1240575"/>
          </a:xfrm>
          <a:custGeom>
            <a:avLst/>
            <a:gdLst/>
            <a:ahLst/>
            <a:cxnLst/>
            <a:rect l="l" t="t" r="r" b="b"/>
            <a:pathLst>
              <a:path w="1525382" h="1240575">
                <a:moveTo>
                  <a:pt x="0" y="0"/>
                </a:moveTo>
                <a:lnTo>
                  <a:pt x="1525382" y="0"/>
                </a:lnTo>
                <a:lnTo>
                  <a:pt x="1525382" y="1240575"/>
                </a:lnTo>
                <a:lnTo>
                  <a:pt x="0" y="1240575"/>
                </a:lnTo>
                <a:lnTo>
                  <a:pt x="0" y="0"/>
                </a:lnTo>
                <a:close/>
              </a:path>
            </a:pathLst>
          </a:custGeom>
          <a:blipFill>
            <a:blip r:embed="rId4">
              <a:extLst>
                <a:ext uri="{96DAC541-7B7A-43D3-8B79-37D633B846F1}">
                  <asvg:svgBlip xmlns:asvg="http://schemas.microsoft.com/office/drawing/2016/SVG/main" xmlns="" r:embed="rId5"/>
                </a:ext>
              </a:extLst>
            </a:blip>
            <a:stretch>
              <a:fillRect t="-23" b="-23"/>
            </a:stretch>
          </a:blipFill>
        </p:spPr>
      </p:sp>
      <p:sp>
        <p:nvSpPr>
          <p:cNvPr id="4" name="Freeform 4"/>
          <p:cNvSpPr/>
          <p:nvPr/>
        </p:nvSpPr>
        <p:spPr>
          <a:xfrm>
            <a:off x="12650582" y="2884820"/>
            <a:ext cx="1187335" cy="1187335"/>
          </a:xfrm>
          <a:custGeom>
            <a:avLst/>
            <a:gdLst/>
            <a:ahLst/>
            <a:cxnLst/>
            <a:rect l="l" t="t" r="r" b="b"/>
            <a:pathLst>
              <a:path w="1187335" h="1187335">
                <a:moveTo>
                  <a:pt x="0" y="0"/>
                </a:moveTo>
                <a:lnTo>
                  <a:pt x="1187335" y="0"/>
                </a:lnTo>
                <a:lnTo>
                  <a:pt x="1187335" y="1187335"/>
                </a:lnTo>
                <a:lnTo>
                  <a:pt x="0" y="1187335"/>
                </a:lnTo>
                <a:lnTo>
                  <a:pt x="0" y="0"/>
                </a:lnTo>
                <a:close/>
              </a:path>
            </a:pathLst>
          </a:custGeom>
          <a:blipFill>
            <a:blip r:embed="rId6">
              <a:extLst>
                <a:ext uri="{96DAC541-7B7A-43D3-8B79-37D633B846F1}">
                  <asvg:svgBlip xmlns:asvg="http://schemas.microsoft.com/office/drawing/2016/SVG/main" xmlns="" r:embed="rId7"/>
                </a:ext>
              </a:extLst>
            </a:blip>
            <a:stretch>
              <a:fillRect l="-799" r="-799"/>
            </a:stretch>
          </a:blipFill>
        </p:spPr>
      </p:sp>
      <p:sp>
        <p:nvSpPr>
          <p:cNvPr id="5" name="Freeform 5"/>
          <p:cNvSpPr/>
          <p:nvPr/>
        </p:nvSpPr>
        <p:spPr>
          <a:xfrm>
            <a:off x="15128164" y="-2586935"/>
            <a:ext cx="5956513" cy="5956513"/>
          </a:xfrm>
          <a:custGeom>
            <a:avLst/>
            <a:gdLst/>
            <a:ahLst/>
            <a:cxnLst/>
            <a:rect l="l" t="t" r="r" b="b"/>
            <a:pathLst>
              <a:path w="5956513" h="5956513">
                <a:moveTo>
                  <a:pt x="0" y="0"/>
                </a:moveTo>
                <a:lnTo>
                  <a:pt x="5956513" y="0"/>
                </a:lnTo>
                <a:lnTo>
                  <a:pt x="5956513" y="5956513"/>
                </a:lnTo>
                <a:lnTo>
                  <a:pt x="0" y="5956513"/>
                </a:lnTo>
                <a:lnTo>
                  <a:pt x="0" y="0"/>
                </a:lnTo>
                <a:close/>
              </a:path>
            </a:pathLst>
          </a:custGeom>
          <a:blipFill>
            <a:blip r:embed="rId8">
              <a:extLst>
                <a:ext uri="{96DAC541-7B7A-43D3-8B79-37D633B846F1}">
                  <asvg:svgBlip xmlns:asvg="http://schemas.microsoft.com/office/drawing/2016/SVG/main" xmlns="" r:embed="rId9"/>
                </a:ext>
              </a:extLst>
            </a:blip>
            <a:stretch>
              <a:fillRect l="-79" r="-79"/>
            </a:stretch>
          </a:blipFill>
        </p:spPr>
      </p:sp>
      <p:sp>
        <p:nvSpPr>
          <p:cNvPr id="7" name="TextBox 7"/>
          <p:cNvSpPr txBox="1"/>
          <p:nvPr/>
        </p:nvSpPr>
        <p:spPr>
          <a:xfrm>
            <a:off x="823803" y="7462404"/>
            <a:ext cx="14393734" cy="2305050"/>
          </a:xfrm>
          <a:prstGeom prst="rect">
            <a:avLst/>
          </a:prstGeom>
        </p:spPr>
        <p:txBody>
          <a:bodyPr lIns="0" tIns="0" rIns="0" bIns="0" rtlCol="0" anchor="t">
            <a:spAutoFit/>
          </a:bodyPr>
          <a:lstStyle/>
          <a:p>
            <a:pPr marL="361950" lvl="2" indent="-120650" algn="l">
              <a:lnSpc>
                <a:spcPts val="3600"/>
              </a:lnSpc>
              <a:buFont typeface="Arial"/>
              <a:buChar char="⚬"/>
            </a:pPr>
            <a:r>
              <a:rPr lang="en-US" sz="3000">
                <a:solidFill>
                  <a:srgbClr val="FFFFFF"/>
                </a:solidFill>
                <a:latin typeface="Arimo"/>
                <a:ea typeface="Arimo"/>
                <a:cs typeface="Arimo"/>
                <a:sym typeface="Arimo"/>
              </a:rPr>
              <a:t>We want to create a model that assigns credit risk score between 0 and 1000.</a:t>
            </a:r>
          </a:p>
          <a:p>
            <a:pPr marL="361950" lvl="2" indent="-120650" algn="l">
              <a:lnSpc>
                <a:spcPts val="3600"/>
              </a:lnSpc>
            </a:pPr>
            <a:endParaRPr lang="en-US" sz="3000">
              <a:solidFill>
                <a:srgbClr val="FFFFFF"/>
              </a:solidFill>
              <a:latin typeface="Arimo"/>
              <a:ea typeface="Arimo"/>
              <a:cs typeface="Arimo"/>
              <a:sym typeface="Arimo"/>
            </a:endParaRPr>
          </a:p>
          <a:p>
            <a:pPr marL="361950" lvl="2" indent="-120650" algn="l">
              <a:lnSpc>
                <a:spcPts val="3600"/>
              </a:lnSpc>
              <a:buFont typeface="Arial"/>
              <a:buChar char="⚬"/>
            </a:pPr>
            <a:r>
              <a:rPr lang="en-US" sz="3000">
                <a:solidFill>
                  <a:srgbClr val="FFFFFF"/>
                </a:solidFill>
                <a:latin typeface="Arimo"/>
                <a:ea typeface="Arimo"/>
                <a:cs typeface="Arimo"/>
                <a:sym typeface="Arimo"/>
              </a:rPr>
              <a:t>Based on these values credit officers guides their decision making on whether to approved or not.</a:t>
            </a:r>
          </a:p>
          <a:p>
            <a:pPr marL="361950" lvl="2" indent="-120650" algn="l">
              <a:lnSpc>
                <a:spcPts val="3600"/>
              </a:lnSpc>
            </a:pPr>
            <a:endParaRPr lang="en-US" sz="3000">
              <a:solidFill>
                <a:srgbClr val="FFFFFF"/>
              </a:solidFill>
              <a:latin typeface="Arimo"/>
              <a:ea typeface="Arimo"/>
              <a:cs typeface="Arimo"/>
              <a:sym typeface="Arimo"/>
            </a:endParaRPr>
          </a:p>
        </p:txBody>
      </p:sp>
      <p:sp>
        <p:nvSpPr>
          <p:cNvPr id="8" name="TextBox 8"/>
          <p:cNvSpPr txBox="1"/>
          <p:nvPr/>
        </p:nvSpPr>
        <p:spPr>
          <a:xfrm>
            <a:off x="823803" y="284774"/>
            <a:ext cx="13636910" cy="1390650"/>
          </a:xfrm>
          <a:prstGeom prst="rect">
            <a:avLst/>
          </a:prstGeom>
        </p:spPr>
        <p:txBody>
          <a:bodyPr lIns="0" tIns="0" rIns="0" bIns="0" rtlCol="0" anchor="t">
            <a:spAutoFit/>
          </a:bodyPr>
          <a:lstStyle/>
          <a:p>
            <a:pPr marL="361950" lvl="2" indent="-120650" algn="l">
              <a:lnSpc>
                <a:spcPts val="3600"/>
              </a:lnSpc>
              <a:buFont typeface="Arial"/>
              <a:buChar char="⚬"/>
            </a:pPr>
            <a:r>
              <a:rPr lang="en-US" sz="3000">
                <a:solidFill>
                  <a:srgbClr val="FFFFFF"/>
                </a:solidFill>
                <a:latin typeface="Arimo"/>
                <a:ea typeface="Arimo"/>
                <a:cs typeface="Arimo"/>
                <a:sym typeface="Arimo"/>
              </a:rPr>
              <a:t>Currently they use traditional financial ratios and FICO scores to detect the fraudelant activities but that is insufficient to make suitable decisions.</a:t>
            </a:r>
          </a:p>
          <a:p>
            <a:pPr marL="361950" lvl="2" indent="-120650" algn="l">
              <a:lnSpc>
                <a:spcPts val="3600"/>
              </a:lnSpc>
            </a:pPr>
            <a:endParaRPr lang="en-US" sz="3000">
              <a:solidFill>
                <a:srgbClr val="FFFFFF"/>
              </a:solidFill>
              <a:latin typeface="Arimo"/>
              <a:ea typeface="Arimo"/>
              <a:cs typeface="Arimo"/>
              <a:sym typeface="Arimo"/>
            </a:endParaRPr>
          </a:p>
        </p:txBody>
      </p:sp>
      <p:pic>
        <p:nvPicPr>
          <p:cNvPr id="9" name="Picture 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24670" y="1813266"/>
            <a:ext cx="6096000" cy="4836231"/>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2557312" y="4699474"/>
            <a:ext cx="1137117" cy="1137117"/>
          </a:xfrm>
          <a:custGeom>
            <a:avLst/>
            <a:gdLst/>
            <a:ahLst/>
            <a:cxnLst/>
            <a:rect l="l" t="t" r="r" b="b"/>
            <a:pathLst>
              <a:path w="1137117" h="1137117">
                <a:moveTo>
                  <a:pt x="0" y="0"/>
                </a:moveTo>
                <a:lnTo>
                  <a:pt x="1137117" y="0"/>
                </a:lnTo>
                <a:lnTo>
                  <a:pt x="1137117" y="1137117"/>
                </a:lnTo>
                <a:lnTo>
                  <a:pt x="0" y="113711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2434923" y="7852312"/>
            <a:ext cx="1525382" cy="1240575"/>
          </a:xfrm>
          <a:custGeom>
            <a:avLst/>
            <a:gdLst/>
            <a:ahLst/>
            <a:cxnLst/>
            <a:rect l="l" t="t" r="r" b="b"/>
            <a:pathLst>
              <a:path w="1525382" h="1240575">
                <a:moveTo>
                  <a:pt x="0" y="0"/>
                </a:moveTo>
                <a:lnTo>
                  <a:pt x="1525382" y="0"/>
                </a:lnTo>
                <a:lnTo>
                  <a:pt x="1525382" y="1240575"/>
                </a:lnTo>
                <a:lnTo>
                  <a:pt x="0" y="1240575"/>
                </a:lnTo>
                <a:lnTo>
                  <a:pt x="0" y="0"/>
                </a:lnTo>
                <a:close/>
              </a:path>
            </a:pathLst>
          </a:custGeom>
          <a:blipFill>
            <a:blip r:embed="rId4">
              <a:extLst>
                <a:ext uri="{96DAC541-7B7A-43D3-8B79-37D633B846F1}">
                  <asvg:svgBlip xmlns:asvg="http://schemas.microsoft.com/office/drawing/2016/SVG/main" xmlns="" r:embed="rId5"/>
                </a:ext>
              </a:extLst>
            </a:blip>
            <a:stretch>
              <a:fillRect t="-23" b="-23"/>
            </a:stretch>
          </a:blipFill>
        </p:spPr>
      </p:sp>
      <p:sp>
        <p:nvSpPr>
          <p:cNvPr id="4" name="Freeform 4"/>
          <p:cNvSpPr/>
          <p:nvPr/>
        </p:nvSpPr>
        <p:spPr>
          <a:xfrm>
            <a:off x="12650582" y="2884820"/>
            <a:ext cx="1187335" cy="1187335"/>
          </a:xfrm>
          <a:custGeom>
            <a:avLst/>
            <a:gdLst/>
            <a:ahLst/>
            <a:cxnLst/>
            <a:rect l="l" t="t" r="r" b="b"/>
            <a:pathLst>
              <a:path w="1187335" h="1187335">
                <a:moveTo>
                  <a:pt x="0" y="0"/>
                </a:moveTo>
                <a:lnTo>
                  <a:pt x="1187335" y="0"/>
                </a:lnTo>
                <a:lnTo>
                  <a:pt x="1187335" y="1187335"/>
                </a:lnTo>
                <a:lnTo>
                  <a:pt x="0" y="1187335"/>
                </a:lnTo>
                <a:lnTo>
                  <a:pt x="0" y="0"/>
                </a:lnTo>
                <a:close/>
              </a:path>
            </a:pathLst>
          </a:custGeom>
          <a:blipFill>
            <a:blip r:embed="rId6">
              <a:extLst>
                <a:ext uri="{96DAC541-7B7A-43D3-8B79-37D633B846F1}">
                  <asvg:svgBlip xmlns:asvg="http://schemas.microsoft.com/office/drawing/2016/SVG/main" xmlns="" r:embed="rId7"/>
                </a:ext>
              </a:extLst>
            </a:blip>
            <a:stretch>
              <a:fillRect l="-799" r="-799"/>
            </a:stretch>
          </a:blipFill>
        </p:spPr>
      </p:sp>
      <p:sp>
        <p:nvSpPr>
          <p:cNvPr id="5" name="Freeform 5"/>
          <p:cNvSpPr/>
          <p:nvPr/>
        </p:nvSpPr>
        <p:spPr>
          <a:xfrm>
            <a:off x="15128164" y="-2586935"/>
            <a:ext cx="5956513" cy="5956513"/>
          </a:xfrm>
          <a:custGeom>
            <a:avLst/>
            <a:gdLst/>
            <a:ahLst/>
            <a:cxnLst/>
            <a:rect l="l" t="t" r="r" b="b"/>
            <a:pathLst>
              <a:path w="5956513" h="5956513">
                <a:moveTo>
                  <a:pt x="0" y="0"/>
                </a:moveTo>
                <a:lnTo>
                  <a:pt x="5956513" y="0"/>
                </a:lnTo>
                <a:lnTo>
                  <a:pt x="5956513" y="5956513"/>
                </a:lnTo>
                <a:lnTo>
                  <a:pt x="0" y="5956513"/>
                </a:lnTo>
                <a:lnTo>
                  <a:pt x="0" y="0"/>
                </a:lnTo>
                <a:close/>
              </a:path>
            </a:pathLst>
          </a:custGeom>
          <a:blipFill>
            <a:blip r:embed="rId8">
              <a:extLst>
                <a:ext uri="{96DAC541-7B7A-43D3-8B79-37D633B846F1}">
                  <asvg:svgBlip xmlns:asvg="http://schemas.microsoft.com/office/drawing/2016/SVG/main" xmlns="" r:embed="rId9"/>
                </a:ext>
              </a:extLst>
            </a:blip>
            <a:stretch>
              <a:fillRect l="-79" r="-79"/>
            </a:stretch>
          </a:blipFill>
        </p:spPr>
      </p:sp>
      <p:sp>
        <p:nvSpPr>
          <p:cNvPr id="6" name="TextBox 6"/>
          <p:cNvSpPr txBox="1"/>
          <p:nvPr/>
        </p:nvSpPr>
        <p:spPr>
          <a:xfrm>
            <a:off x="1028700" y="2535512"/>
            <a:ext cx="13868318" cy="1000125"/>
          </a:xfrm>
          <a:prstGeom prst="rect">
            <a:avLst/>
          </a:prstGeom>
        </p:spPr>
        <p:txBody>
          <a:bodyPr lIns="0" tIns="0" rIns="0" bIns="0" rtlCol="0" anchor="t">
            <a:spAutoFit/>
          </a:bodyPr>
          <a:lstStyle/>
          <a:p>
            <a:pPr algn="l">
              <a:lnSpc>
                <a:spcPts val="3839"/>
              </a:lnSpc>
            </a:pPr>
            <a:r>
              <a:rPr lang="en-US" sz="3199">
                <a:solidFill>
                  <a:srgbClr val="FFFFFF"/>
                </a:solidFill>
                <a:latin typeface="Arimo"/>
                <a:ea typeface="Arimo"/>
                <a:cs typeface="Arimo"/>
                <a:sym typeface="Arimo"/>
              </a:rPr>
              <a:t>For this purpose we use fraud_detection_dataset.csv which contains 7000 observations and 23 columns.</a:t>
            </a:r>
          </a:p>
        </p:txBody>
      </p:sp>
      <p:sp>
        <p:nvSpPr>
          <p:cNvPr id="7" name="TextBox 7"/>
          <p:cNvSpPr txBox="1"/>
          <p:nvPr/>
        </p:nvSpPr>
        <p:spPr>
          <a:xfrm>
            <a:off x="1028700" y="1019175"/>
            <a:ext cx="4256332" cy="609600"/>
          </a:xfrm>
          <a:prstGeom prst="rect">
            <a:avLst/>
          </a:prstGeom>
        </p:spPr>
        <p:txBody>
          <a:bodyPr lIns="0" tIns="0" rIns="0" bIns="0" rtlCol="0" anchor="t">
            <a:spAutoFit/>
          </a:bodyPr>
          <a:lstStyle/>
          <a:p>
            <a:pPr algn="l">
              <a:lnSpc>
                <a:spcPts val="4799"/>
              </a:lnSpc>
            </a:pPr>
            <a:r>
              <a:rPr lang="en-US" sz="3999" b="1">
                <a:solidFill>
                  <a:srgbClr val="4BD1FB"/>
                </a:solidFill>
                <a:latin typeface="Arimo Bold"/>
                <a:ea typeface="Arimo Bold"/>
                <a:cs typeface="Arimo Bold"/>
                <a:sym typeface="Arimo Bold"/>
              </a:rPr>
              <a:t>About dataset</a:t>
            </a:r>
          </a:p>
        </p:txBody>
      </p:sp>
      <p:sp>
        <p:nvSpPr>
          <p:cNvPr id="8" name="Freeform 8"/>
          <p:cNvSpPr/>
          <p:nvPr/>
        </p:nvSpPr>
        <p:spPr>
          <a:xfrm>
            <a:off x="1028700" y="4328721"/>
            <a:ext cx="16465304" cy="4143878"/>
          </a:xfrm>
          <a:custGeom>
            <a:avLst/>
            <a:gdLst/>
            <a:ahLst/>
            <a:cxnLst/>
            <a:rect l="l" t="t" r="r" b="b"/>
            <a:pathLst>
              <a:path w="16465304" h="4143878">
                <a:moveTo>
                  <a:pt x="0" y="0"/>
                </a:moveTo>
                <a:lnTo>
                  <a:pt x="16465304" y="0"/>
                </a:lnTo>
                <a:lnTo>
                  <a:pt x="16465304" y="4143879"/>
                </a:lnTo>
                <a:lnTo>
                  <a:pt x="0" y="4143879"/>
                </a:lnTo>
                <a:lnTo>
                  <a:pt x="0" y="0"/>
                </a:lnTo>
                <a:close/>
              </a:path>
            </a:pathLst>
          </a:custGeom>
          <a:blipFill>
            <a:blip r:embed="rId10"/>
            <a:stretch>
              <a:fillRect/>
            </a:stretch>
          </a:blipFill>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grpSp>
        <p:nvGrpSpPr>
          <p:cNvPr id="2" name="Group 2"/>
          <p:cNvGrpSpPr/>
          <p:nvPr/>
        </p:nvGrpSpPr>
        <p:grpSpPr>
          <a:xfrm>
            <a:off x="0" y="-54591"/>
            <a:ext cx="18288000" cy="3860032"/>
            <a:chOff x="0" y="0"/>
            <a:chExt cx="24384000" cy="5146709"/>
          </a:xfrm>
        </p:grpSpPr>
        <p:sp>
          <p:nvSpPr>
            <p:cNvPr id="3" name="Freeform 3"/>
            <p:cNvSpPr/>
            <p:nvPr/>
          </p:nvSpPr>
          <p:spPr>
            <a:xfrm>
              <a:off x="0" y="0"/>
              <a:ext cx="24384000" cy="5146675"/>
            </a:xfrm>
            <a:custGeom>
              <a:avLst/>
              <a:gdLst/>
              <a:ahLst/>
              <a:cxnLst/>
              <a:rect l="l" t="t" r="r" b="b"/>
              <a:pathLst>
                <a:path w="24384000" h="5146675">
                  <a:moveTo>
                    <a:pt x="0" y="0"/>
                  </a:moveTo>
                  <a:lnTo>
                    <a:pt x="24384000" y="0"/>
                  </a:lnTo>
                  <a:lnTo>
                    <a:pt x="24384000" y="5146675"/>
                  </a:lnTo>
                  <a:lnTo>
                    <a:pt x="0" y="5146675"/>
                  </a:lnTo>
                  <a:lnTo>
                    <a:pt x="0" y="0"/>
                  </a:lnTo>
                  <a:close/>
                </a:path>
              </a:pathLst>
            </a:custGeom>
            <a:blipFill>
              <a:blip r:embed="rId2"/>
              <a:stretch>
                <a:fillRect t="-107926" b="-107927"/>
              </a:stretch>
            </a:blipFill>
          </p:spPr>
        </p:sp>
      </p:grpSp>
      <p:sp>
        <p:nvSpPr>
          <p:cNvPr id="4" name="TextBox 4"/>
          <p:cNvSpPr txBox="1"/>
          <p:nvPr/>
        </p:nvSpPr>
        <p:spPr>
          <a:xfrm>
            <a:off x="5062631" y="5686425"/>
            <a:ext cx="8162739" cy="971675"/>
          </a:xfrm>
          <a:prstGeom prst="rect">
            <a:avLst/>
          </a:prstGeom>
        </p:spPr>
        <p:txBody>
          <a:bodyPr lIns="0" tIns="0" rIns="0" bIns="0" rtlCol="0" anchor="t">
            <a:spAutoFit/>
          </a:bodyPr>
          <a:lstStyle/>
          <a:p>
            <a:pPr algn="ctr">
              <a:lnSpc>
                <a:spcPts val="5923"/>
              </a:lnSpc>
            </a:pPr>
            <a:r>
              <a:rPr lang="en-US" sz="9999" b="1" spc="95">
                <a:solidFill>
                  <a:srgbClr val="FFFFFF"/>
                </a:solidFill>
                <a:latin typeface="Arimo Bold"/>
                <a:ea typeface="Arimo Bold"/>
                <a:cs typeface="Arimo Bold"/>
                <a:sym typeface="Arimo Bold"/>
              </a:rPr>
              <a:t>Methods</a:t>
            </a:r>
          </a:p>
        </p:txBody>
      </p:sp>
      <p:sp>
        <p:nvSpPr>
          <p:cNvPr id="5" name="AutoShape 5"/>
          <p:cNvSpPr/>
          <p:nvPr/>
        </p:nvSpPr>
        <p:spPr>
          <a:xfrm>
            <a:off x="5897880" y="6677150"/>
            <a:ext cx="6492240" cy="0"/>
          </a:xfrm>
          <a:prstGeom prst="line">
            <a:avLst/>
          </a:prstGeom>
          <a:ln w="38100" cap="flat">
            <a:solidFill>
              <a:srgbClr val="FFFFFF"/>
            </a:solidFill>
            <a:prstDash val="solid"/>
            <a:headEnd type="none" w="sm" len="sm"/>
            <a:tailEnd type="none" w="sm" len="sm"/>
          </a:ln>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622339" y="9056142"/>
            <a:ext cx="5142473" cy="4459926"/>
          </a:xfrm>
          <a:custGeom>
            <a:avLst/>
            <a:gdLst/>
            <a:ahLst/>
            <a:cxnLst/>
            <a:rect l="l" t="t" r="r" b="b"/>
            <a:pathLst>
              <a:path w="5142473" h="4459926">
                <a:moveTo>
                  <a:pt x="0" y="0"/>
                </a:moveTo>
                <a:lnTo>
                  <a:pt x="5142473" y="0"/>
                </a:lnTo>
                <a:lnTo>
                  <a:pt x="5142473" y="4459926"/>
                </a:lnTo>
                <a:lnTo>
                  <a:pt x="0" y="445992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800000">
            <a:off x="14828520" y="-2770537"/>
            <a:ext cx="4645767" cy="4029147"/>
          </a:xfrm>
          <a:custGeom>
            <a:avLst/>
            <a:gdLst/>
            <a:ahLst/>
            <a:cxnLst/>
            <a:rect l="l" t="t" r="r" b="b"/>
            <a:pathLst>
              <a:path w="4645767" h="4029147">
                <a:moveTo>
                  <a:pt x="0" y="0"/>
                </a:moveTo>
                <a:lnTo>
                  <a:pt x="4645767" y="0"/>
                </a:lnTo>
                <a:lnTo>
                  <a:pt x="4645767" y="4029147"/>
                </a:lnTo>
                <a:lnTo>
                  <a:pt x="0" y="402914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8700" y="4360564"/>
            <a:ext cx="7174282" cy="4631309"/>
          </a:xfrm>
          <a:custGeom>
            <a:avLst/>
            <a:gdLst/>
            <a:ahLst/>
            <a:cxnLst/>
            <a:rect l="l" t="t" r="r" b="b"/>
            <a:pathLst>
              <a:path w="7174282" h="4631309">
                <a:moveTo>
                  <a:pt x="0" y="0"/>
                </a:moveTo>
                <a:lnTo>
                  <a:pt x="7174282" y="0"/>
                </a:lnTo>
                <a:lnTo>
                  <a:pt x="7174282" y="4631308"/>
                </a:lnTo>
                <a:lnTo>
                  <a:pt x="0" y="4631308"/>
                </a:lnTo>
                <a:lnTo>
                  <a:pt x="0" y="0"/>
                </a:lnTo>
                <a:close/>
              </a:path>
            </a:pathLst>
          </a:custGeom>
          <a:blipFill>
            <a:blip r:embed="rId4"/>
            <a:stretch>
              <a:fillRect l="-8623" r="-8623"/>
            </a:stretch>
          </a:blipFill>
        </p:spPr>
      </p:sp>
      <p:sp>
        <p:nvSpPr>
          <p:cNvPr id="5" name="TextBox 5"/>
          <p:cNvSpPr txBox="1"/>
          <p:nvPr/>
        </p:nvSpPr>
        <p:spPr>
          <a:xfrm>
            <a:off x="838200" y="571500"/>
            <a:ext cx="12910200" cy="913257"/>
          </a:xfrm>
          <a:prstGeom prst="rect">
            <a:avLst/>
          </a:prstGeom>
        </p:spPr>
        <p:txBody>
          <a:bodyPr lIns="0" tIns="0" rIns="0" bIns="0" rtlCol="0" anchor="t">
            <a:spAutoFit/>
          </a:bodyPr>
          <a:lstStyle/>
          <a:p>
            <a:pPr algn="l">
              <a:lnSpc>
                <a:spcPts val="7884"/>
              </a:lnSpc>
            </a:pPr>
            <a:r>
              <a:rPr lang="en-US" sz="4000" b="1">
                <a:solidFill>
                  <a:srgbClr val="4BD1FB"/>
                </a:solidFill>
                <a:latin typeface="Arimo Bold"/>
                <a:ea typeface="Arimo Bold"/>
                <a:cs typeface="Arimo Bold"/>
                <a:sym typeface="Arimo Bold"/>
              </a:rPr>
              <a:t>Handling Missing Values </a:t>
            </a:r>
          </a:p>
        </p:txBody>
      </p:sp>
      <p:sp>
        <p:nvSpPr>
          <p:cNvPr id="6" name="TextBox 6"/>
          <p:cNvSpPr txBox="1"/>
          <p:nvPr/>
        </p:nvSpPr>
        <p:spPr>
          <a:xfrm>
            <a:off x="0" y="1784727"/>
            <a:ext cx="18288000" cy="1413685"/>
          </a:xfrm>
          <a:prstGeom prst="rect">
            <a:avLst/>
          </a:prstGeom>
        </p:spPr>
        <p:txBody>
          <a:bodyPr lIns="0" tIns="0" rIns="0" bIns="0" rtlCol="0" anchor="t">
            <a:spAutoFit/>
          </a:bodyPr>
          <a:lstStyle/>
          <a:p>
            <a:pPr marL="907653" lvl="2" indent="-302551" algn="l">
              <a:lnSpc>
                <a:spcPts val="5755"/>
              </a:lnSpc>
              <a:buFont typeface="Arial"/>
              <a:buChar char="⚬"/>
            </a:pPr>
            <a:r>
              <a:rPr lang="en-US" sz="3197">
                <a:solidFill>
                  <a:srgbClr val="FFFFFF"/>
                </a:solidFill>
                <a:latin typeface="Arimo"/>
                <a:ea typeface="Arimo"/>
                <a:cs typeface="Arimo"/>
                <a:sym typeface="Arimo"/>
              </a:rPr>
              <a:t>In the given dataset FICO_Scores, avg_balance _last_12_months,                               number_of delinquent_accounts and unusual_submission_pattern have missing values.</a:t>
            </a:r>
          </a:p>
        </p:txBody>
      </p:sp>
      <p:sp>
        <p:nvSpPr>
          <p:cNvPr id="7" name="TextBox 7"/>
          <p:cNvSpPr txBox="1"/>
          <p:nvPr/>
        </p:nvSpPr>
        <p:spPr>
          <a:xfrm>
            <a:off x="604085" y="3698379"/>
            <a:ext cx="3169920" cy="476250"/>
          </a:xfrm>
          <a:prstGeom prst="rect">
            <a:avLst/>
          </a:prstGeom>
        </p:spPr>
        <p:txBody>
          <a:bodyPr lIns="0" tIns="0" rIns="0" bIns="0" rtlCol="0" anchor="t">
            <a:spAutoFit/>
          </a:bodyPr>
          <a:lstStyle/>
          <a:p>
            <a:pPr algn="l">
              <a:lnSpc>
                <a:spcPts val="3600"/>
              </a:lnSpc>
            </a:pPr>
            <a:r>
              <a:rPr lang="en-US" sz="3000" b="1">
                <a:solidFill>
                  <a:srgbClr val="FFFFFF"/>
                </a:solidFill>
                <a:latin typeface="Arimo Bold"/>
                <a:ea typeface="Arimo Bold"/>
                <a:cs typeface="Arimo Bold"/>
                <a:sym typeface="Arimo Bold"/>
              </a:rPr>
              <a:t>   -  FICO Scores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0" y="2386714"/>
            <a:ext cx="8811448" cy="7900286"/>
          </a:xfrm>
          <a:custGeom>
            <a:avLst/>
            <a:gdLst/>
            <a:ahLst/>
            <a:cxnLst/>
            <a:rect l="l" t="t" r="r" b="b"/>
            <a:pathLst>
              <a:path w="8811448" h="7900286">
                <a:moveTo>
                  <a:pt x="0" y="0"/>
                </a:moveTo>
                <a:lnTo>
                  <a:pt x="8811448" y="0"/>
                </a:lnTo>
                <a:lnTo>
                  <a:pt x="8811448" y="7900286"/>
                </a:lnTo>
                <a:lnTo>
                  <a:pt x="0" y="7900286"/>
                </a:lnTo>
                <a:lnTo>
                  <a:pt x="0" y="0"/>
                </a:lnTo>
                <a:close/>
              </a:path>
            </a:pathLst>
          </a:custGeom>
          <a:blipFill>
            <a:blip r:embed="rId2"/>
            <a:stretch>
              <a:fillRect l="-1135" t="-16904" r="-1135"/>
            </a:stretch>
          </a:blipFill>
        </p:spPr>
      </p:sp>
      <p:sp>
        <p:nvSpPr>
          <p:cNvPr id="3" name="Freeform 3"/>
          <p:cNvSpPr/>
          <p:nvPr/>
        </p:nvSpPr>
        <p:spPr>
          <a:xfrm>
            <a:off x="9139119" y="2386714"/>
            <a:ext cx="4110533" cy="3032689"/>
          </a:xfrm>
          <a:custGeom>
            <a:avLst/>
            <a:gdLst/>
            <a:ahLst/>
            <a:cxnLst/>
            <a:rect l="l" t="t" r="r" b="b"/>
            <a:pathLst>
              <a:path w="4110533" h="3032689">
                <a:moveTo>
                  <a:pt x="0" y="0"/>
                </a:moveTo>
                <a:lnTo>
                  <a:pt x="4110532" y="0"/>
                </a:lnTo>
                <a:lnTo>
                  <a:pt x="4110532" y="3032690"/>
                </a:lnTo>
                <a:lnTo>
                  <a:pt x="0" y="3032690"/>
                </a:lnTo>
                <a:lnTo>
                  <a:pt x="0" y="0"/>
                </a:lnTo>
                <a:close/>
              </a:path>
            </a:pathLst>
          </a:custGeom>
          <a:blipFill>
            <a:blip r:embed="rId3"/>
            <a:stretch>
              <a:fillRect/>
            </a:stretch>
          </a:blipFill>
        </p:spPr>
      </p:sp>
      <p:sp>
        <p:nvSpPr>
          <p:cNvPr id="4" name="Freeform 4"/>
          <p:cNvSpPr/>
          <p:nvPr/>
        </p:nvSpPr>
        <p:spPr>
          <a:xfrm>
            <a:off x="9139119" y="5809685"/>
            <a:ext cx="5966564" cy="4477315"/>
          </a:xfrm>
          <a:custGeom>
            <a:avLst/>
            <a:gdLst/>
            <a:ahLst/>
            <a:cxnLst/>
            <a:rect l="l" t="t" r="r" b="b"/>
            <a:pathLst>
              <a:path w="5966564" h="4477315">
                <a:moveTo>
                  <a:pt x="0" y="0"/>
                </a:moveTo>
                <a:lnTo>
                  <a:pt x="5966564" y="0"/>
                </a:lnTo>
                <a:lnTo>
                  <a:pt x="5966564" y="4477315"/>
                </a:lnTo>
                <a:lnTo>
                  <a:pt x="0" y="4477315"/>
                </a:lnTo>
                <a:lnTo>
                  <a:pt x="0" y="0"/>
                </a:lnTo>
                <a:close/>
              </a:path>
            </a:pathLst>
          </a:custGeom>
          <a:blipFill>
            <a:blip r:embed="rId4"/>
            <a:stretch>
              <a:fillRect l="-42615" t="-61283" r="-118091" b="-34046"/>
            </a:stretch>
          </a:blipFill>
        </p:spPr>
      </p:sp>
      <p:sp>
        <p:nvSpPr>
          <p:cNvPr id="5" name="TextBox 5"/>
          <p:cNvSpPr txBox="1"/>
          <p:nvPr/>
        </p:nvSpPr>
        <p:spPr>
          <a:xfrm>
            <a:off x="-342381" y="277705"/>
            <a:ext cx="17142067" cy="1981374"/>
          </a:xfrm>
          <a:prstGeom prst="rect">
            <a:avLst/>
          </a:prstGeom>
        </p:spPr>
        <p:txBody>
          <a:bodyPr lIns="0" tIns="0" rIns="0" bIns="0" rtlCol="0" anchor="t">
            <a:spAutoFit/>
          </a:bodyPr>
          <a:lstStyle/>
          <a:p>
            <a:pPr marL="850886" lvl="2" indent="-283629" algn="l">
              <a:lnSpc>
                <a:spcPts val="5395"/>
              </a:lnSpc>
              <a:buFont typeface="Arial"/>
              <a:buChar char="⚬"/>
            </a:pPr>
            <a:r>
              <a:rPr lang="en-US" sz="2997">
                <a:solidFill>
                  <a:srgbClr val="FFFFFF"/>
                </a:solidFill>
                <a:latin typeface="Arimo"/>
                <a:ea typeface="Arimo"/>
                <a:cs typeface="Arimo"/>
                <a:sym typeface="Arimo"/>
              </a:rPr>
              <a:t> grouped the fico_score column by the number_of_defaulted_accounts For each group. </a:t>
            </a:r>
          </a:p>
          <a:p>
            <a:pPr marL="850886" lvl="2" indent="-283629" algn="l">
              <a:lnSpc>
                <a:spcPts val="5395"/>
              </a:lnSpc>
              <a:buFont typeface="Arial"/>
              <a:buChar char="⚬"/>
            </a:pPr>
            <a:r>
              <a:rPr lang="en-US" sz="2997">
                <a:solidFill>
                  <a:srgbClr val="FFFFFF"/>
                </a:solidFill>
                <a:latin typeface="Arimo"/>
                <a:ea typeface="Arimo"/>
                <a:cs typeface="Arimo"/>
                <a:sym typeface="Arimo"/>
              </a:rPr>
              <a:t>imputed the missing values in fico_score using the mode of respective group.</a:t>
            </a:r>
          </a:p>
          <a:p>
            <a:pPr algn="l">
              <a:lnSpc>
                <a:spcPts val="5395"/>
              </a:lnSpc>
            </a:pPr>
            <a:endParaRPr lang="en-US" sz="2997">
              <a:solidFill>
                <a:srgbClr val="FFFFFF"/>
              </a:solidFill>
              <a:latin typeface="Arimo"/>
              <a:ea typeface="Arimo"/>
              <a:cs typeface="Arimo"/>
              <a:sym typeface="Arimo"/>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622339" y="9056142"/>
            <a:ext cx="5142473" cy="4459926"/>
          </a:xfrm>
          <a:custGeom>
            <a:avLst/>
            <a:gdLst/>
            <a:ahLst/>
            <a:cxnLst/>
            <a:rect l="l" t="t" r="r" b="b"/>
            <a:pathLst>
              <a:path w="5142473" h="4459926">
                <a:moveTo>
                  <a:pt x="0" y="0"/>
                </a:moveTo>
                <a:lnTo>
                  <a:pt x="5142473" y="0"/>
                </a:lnTo>
                <a:lnTo>
                  <a:pt x="5142473" y="4459926"/>
                </a:lnTo>
                <a:lnTo>
                  <a:pt x="0" y="445992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800000">
            <a:off x="14828520" y="-2770537"/>
            <a:ext cx="4645767" cy="4029147"/>
          </a:xfrm>
          <a:custGeom>
            <a:avLst/>
            <a:gdLst/>
            <a:ahLst/>
            <a:cxnLst/>
            <a:rect l="l" t="t" r="r" b="b"/>
            <a:pathLst>
              <a:path w="4645767" h="4029147">
                <a:moveTo>
                  <a:pt x="0" y="0"/>
                </a:moveTo>
                <a:lnTo>
                  <a:pt x="4645767" y="0"/>
                </a:lnTo>
                <a:lnTo>
                  <a:pt x="4645767" y="4029147"/>
                </a:lnTo>
                <a:lnTo>
                  <a:pt x="0" y="402914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8700" y="1258610"/>
            <a:ext cx="4241421" cy="3364909"/>
          </a:xfrm>
          <a:custGeom>
            <a:avLst/>
            <a:gdLst/>
            <a:ahLst/>
            <a:cxnLst/>
            <a:rect l="l" t="t" r="r" b="b"/>
            <a:pathLst>
              <a:path w="4241421" h="3364909">
                <a:moveTo>
                  <a:pt x="0" y="0"/>
                </a:moveTo>
                <a:lnTo>
                  <a:pt x="4241421" y="0"/>
                </a:lnTo>
                <a:lnTo>
                  <a:pt x="4241421" y="3364909"/>
                </a:lnTo>
                <a:lnTo>
                  <a:pt x="0" y="3364909"/>
                </a:lnTo>
                <a:lnTo>
                  <a:pt x="0" y="0"/>
                </a:lnTo>
                <a:close/>
              </a:path>
            </a:pathLst>
          </a:custGeom>
          <a:blipFill>
            <a:blip r:embed="rId4"/>
            <a:stretch>
              <a:fillRect/>
            </a:stretch>
          </a:blipFill>
        </p:spPr>
      </p:sp>
      <p:sp>
        <p:nvSpPr>
          <p:cNvPr id="5" name="Freeform 5"/>
          <p:cNvSpPr/>
          <p:nvPr/>
        </p:nvSpPr>
        <p:spPr>
          <a:xfrm>
            <a:off x="1028700" y="5645445"/>
            <a:ext cx="4241421" cy="3312695"/>
          </a:xfrm>
          <a:custGeom>
            <a:avLst/>
            <a:gdLst/>
            <a:ahLst/>
            <a:cxnLst/>
            <a:rect l="l" t="t" r="r" b="b"/>
            <a:pathLst>
              <a:path w="4241421" h="3312695">
                <a:moveTo>
                  <a:pt x="0" y="0"/>
                </a:moveTo>
                <a:lnTo>
                  <a:pt x="4241421" y="0"/>
                </a:lnTo>
                <a:lnTo>
                  <a:pt x="4241421" y="3312696"/>
                </a:lnTo>
                <a:lnTo>
                  <a:pt x="0" y="3312696"/>
                </a:lnTo>
                <a:lnTo>
                  <a:pt x="0" y="0"/>
                </a:lnTo>
                <a:close/>
              </a:path>
            </a:pathLst>
          </a:custGeom>
          <a:blipFill>
            <a:blip r:embed="rId5"/>
            <a:stretch>
              <a:fillRect/>
            </a:stretch>
          </a:blipFill>
        </p:spPr>
      </p:sp>
      <p:sp>
        <p:nvSpPr>
          <p:cNvPr id="6" name="Freeform 6"/>
          <p:cNvSpPr/>
          <p:nvPr/>
        </p:nvSpPr>
        <p:spPr>
          <a:xfrm>
            <a:off x="6779911" y="1258610"/>
            <a:ext cx="4308272" cy="3364909"/>
          </a:xfrm>
          <a:custGeom>
            <a:avLst/>
            <a:gdLst/>
            <a:ahLst/>
            <a:cxnLst/>
            <a:rect l="l" t="t" r="r" b="b"/>
            <a:pathLst>
              <a:path w="4308272" h="3364909">
                <a:moveTo>
                  <a:pt x="0" y="0"/>
                </a:moveTo>
                <a:lnTo>
                  <a:pt x="4308272" y="0"/>
                </a:lnTo>
                <a:lnTo>
                  <a:pt x="4308272" y="3364909"/>
                </a:lnTo>
                <a:lnTo>
                  <a:pt x="0" y="3364909"/>
                </a:lnTo>
                <a:lnTo>
                  <a:pt x="0" y="0"/>
                </a:lnTo>
                <a:close/>
              </a:path>
            </a:pathLst>
          </a:custGeom>
          <a:blipFill>
            <a:blip r:embed="rId6"/>
            <a:stretch>
              <a:fillRect/>
            </a:stretch>
          </a:blipFill>
        </p:spPr>
      </p:sp>
      <p:sp>
        <p:nvSpPr>
          <p:cNvPr id="7" name="TextBox 7"/>
          <p:cNvSpPr txBox="1"/>
          <p:nvPr/>
        </p:nvSpPr>
        <p:spPr>
          <a:xfrm>
            <a:off x="93465" y="311741"/>
            <a:ext cx="14237403" cy="476250"/>
          </a:xfrm>
          <a:prstGeom prst="rect">
            <a:avLst/>
          </a:prstGeom>
        </p:spPr>
        <p:txBody>
          <a:bodyPr lIns="0" tIns="0" rIns="0" bIns="0" rtlCol="0" anchor="t">
            <a:spAutoFit/>
          </a:bodyPr>
          <a:lstStyle/>
          <a:p>
            <a:pPr algn="l">
              <a:lnSpc>
                <a:spcPts val="3600"/>
              </a:lnSpc>
            </a:pPr>
            <a:r>
              <a:rPr lang="en-US" sz="3000" b="1">
                <a:solidFill>
                  <a:srgbClr val="FFFFFF"/>
                </a:solidFill>
                <a:latin typeface="Arimo Bold"/>
                <a:ea typeface="Arimo Bold"/>
                <a:cs typeface="Arimo Bold"/>
                <a:sym typeface="Arimo Bold"/>
              </a:rPr>
              <a:t>-  Avg_balance_last_12_months and Number_of_delinquent_accounts</a:t>
            </a:r>
          </a:p>
        </p:txBody>
      </p:sp>
      <p:sp>
        <p:nvSpPr>
          <p:cNvPr id="8" name="TextBox 8"/>
          <p:cNvSpPr txBox="1"/>
          <p:nvPr/>
        </p:nvSpPr>
        <p:spPr>
          <a:xfrm>
            <a:off x="93465" y="5071194"/>
            <a:ext cx="5684520" cy="476250"/>
          </a:xfrm>
          <a:prstGeom prst="rect">
            <a:avLst/>
          </a:prstGeom>
        </p:spPr>
        <p:txBody>
          <a:bodyPr lIns="0" tIns="0" rIns="0" bIns="0" rtlCol="0" anchor="t">
            <a:spAutoFit/>
          </a:bodyPr>
          <a:lstStyle/>
          <a:p>
            <a:pPr algn="l">
              <a:lnSpc>
                <a:spcPts val="3600"/>
              </a:lnSpc>
            </a:pPr>
            <a:r>
              <a:rPr lang="en-US" sz="3000" b="1">
                <a:solidFill>
                  <a:srgbClr val="FFFFFF"/>
                </a:solidFill>
                <a:latin typeface="Arimo Bold"/>
                <a:ea typeface="Arimo Bold"/>
                <a:cs typeface="Arimo Bold"/>
                <a:sym typeface="Arimo Bold"/>
              </a:rPr>
              <a:t>-  Unusual_submission_pattern</a:t>
            </a:r>
          </a:p>
        </p:txBody>
      </p:sp>
      <p:sp>
        <p:nvSpPr>
          <p:cNvPr id="9" name="TextBox 9"/>
          <p:cNvSpPr txBox="1"/>
          <p:nvPr/>
        </p:nvSpPr>
        <p:spPr>
          <a:xfrm>
            <a:off x="1748519" y="9215316"/>
            <a:ext cx="16091236" cy="689785"/>
          </a:xfrm>
          <a:prstGeom prst="rect">
            <a:avLst/>
          </a:prstGeom>
        </p:spPr>
        <p:txBody>
          <a:bodyPr lIns="0" tIns="0" rIns="0" bIns="0" rtlCol="0" anchor="t">
            <a:spAutoFit/>
          </a:bodyPr>
          <a:lstStyle/>
          <a:p>
            <a:pPr marL="907943" lvl="2" indent="-302648" algn="l">
              <a:lnSpc>
                <a:spcPts val="5755"/>
              </a:lnSpc>
              <a:buFont typeface="Arial"/>
              <a:buChar char="⚬"/>
            </a:pPr>
            <a:r>
              <a:rPr lang="en-US" sz="3197">
                <a:solidFill>
                  <a:srgbClr val="FFFFFF"/>
                </a:solidFill>
                <a:latin typeface="Arimo"/>
                <a:ea typeface="Arimo"/>
                <a:cs typeface="Arimo"/>
                <a:sym typeface="Arimo"/>
              </a:rPr>
              <a:t>used K-Nearest Neighbors method to imputation to these three.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519628" y="8997303"/>
            <a:ext cx="5316776" cy="5316776"/>
          </a:xfrm>
          <a:custGeom>
            <a:avLst/>
            <a:gdLst/>
            <a:ahLst/>
            <a:cxnLst/>
            <a:rect l="l" t="t" r="r" b="b"/>
            <a:pathLst>
              <a:path w="5316776" h="5316776">
                <a:moveTo>
                  <a:pt x="0" y="0"/>
                </a:moveTo>
                <a:lnTo>
                  <a:pt x="5316776" y="0"/>
                </a:lnTo>
                <a:lnTo>
                  <a:pt x="5316776" y="5316776"/>
                </a:lnTo>
                <a:lnTo>
                  <a:pt x="0" y="5316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36461">
            <a:off x="15111436" y="-4169017"/>
            <a:ext cx="5550410" cy="5550410"/>
          </a:xfrm>
          <a:custGeom>
            <a:avLst/>
            <a:gdLst/>
            <a:ahLst/>
            <a:cxnLst/>
            <a:rect l="l" t="t" r="r" b="b"/>
            <a:pathLst>
              <a:path w="5550410" h="5550410">
                <a:moveTo>
                  <a:pt x="0" y="0"/>
                </a:moveTo>
                <a:lnTo>
                  <a:pt x="5550410" y="0"/>
                </a:lnTo>
                <a:lnTo>
                  <a:pt x="5550410" y="5550410"/>
                </a:lnTo>
                <a:lnTo>
                  <a:pt x="0" y="555041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380727" y="1657264"/>
            <a:ext cx="8354009" cy="3885197"/>
          </a:xfrm>
          <a:custGeom>
            <a:avLst/>
            <a:gdLst/>
            <a:ahLst/>
            <a:cxnLst/>
            <a:rect l="l" t="t" r="r" b="b"/>
            <a:pathLst>
              <a:path w="8354009" h="3885197">
                <a:moveTo>
                  <a:pt x="0" y="0"/>
                </a:moveTo>
                <a:lnTo>
                  <a:pt x="8354009" y="0"/>
                </a:lnTo>
                <a:lnTo>
                  <a:pt x="8354009" y="3885197"/>
                </a:lnTo>
                <a:lnTo>
                  <a:pt x="0" y="3885197"/>
                </a:lnTo>
                <a:lnTo>
                  <a:pt x="0" y="0"/>
                </a:lnTo>
                <a:close/>
              </a:path>
            </a:pathLst>
          </a:custGeom>
          <a:blipFill>
            <a:blip r:embed="rId4"/>
            <a:stretch>
              <a:fillRect l="-43302" t="-108309" r="-116590" b="-105875"/>
            </a:stretch>
          </a:blipFill>
        </p:spPr>
      </p:sp>
      <p:sp>
        <p:nvSpPr>
          <p:cNvPr id="5" name="TextBox 5"/>
          <p:cNvSpPr txBox="1"/>
          <p:nvPr/>
        </p:nvSpPr>
        <p:spPr>
          <a:xfrm>
            <a:off x="0" y="714004"/>
            <a:ext cx="7143923" cy="655955"/>
          </a:xfrm>
          <a:prstGeom prst="rect">
            <a:avLst/>
          </a:prstGeom>
        </p:spPr>
        <p:txBody>
          <a:bodyPr lIns="0" tIns="0" rIns="0" bIns="0" rtlCol="0" anchor="t">
            <a:spAutoFit/>
          </a:bodyPr>
          <a:lstStyle/>
          <a:p>
            <a:pPr algn="ctr">
              <a:lnSpc>
                <a:spcPts val="5184"/>
              </a:lnSpc>
            </a:pPr>
            <a:r>
              <a:rPr lang="en-US" sz="4000" b="1">
                <a:solidFill>
                  <a:srgbClr val="4BD1FB"/>
                </a:solidFill>
                <a:latin typeface="Arimo Bold"/>
                <a:ea typeface="Arimo Bold"/>
                <a:cs typeface="Arimo Bold"/>
                <a:sym typeface="Arimo Bold"/>
              </a:rPr>
              <a:t>Resolving Contradictions</a:t>
            </a:r>
          </a:p>
        </p:txBody>
      </p:sp>
      <p:sp>
        <p:nvSpPr>
          <p:cNvPr id="6" name="TextBox 6"/>
          <p:cNvSpPr txBox="1"/>
          <p:nvPr/>
        </p:nvSpPr>
        <p:spPr>
          <a:xfrm>
            <a:off x="-248881" y="5734365"/>
            <a:ext cx="17259300" cy="2861485"/>
          </a:xfrm>
          <a:prstGeom prst="rect">
            <a:avLst/>
          </a:prstGeom>
        </p:spPr>
        <p:txBody>
          <a:bodyPr lIns="0" tIns="0" rIns="0" bIns="0" rtlCol="0" anchor="t">
            <a:spAutoFit/>
          </a:bodyPr>
          <a:lstStyle/>
          <a:p>
            <a:pPr marL="907653" lvl="2" indent="-302551" algn="l">
              <a:lnSpc>
                <a:spcPts val="5755"/>
              </a:lnSpc>
              <a:buFont typeface="Arial"/>
              <a:buChar char="⚬"/>
            </a:pPr>
            <a:r>
              <a:rPr lang="en-US" sz="3197">
                <a:solidFill>
                  <a:srgbClr val="FFFFFF"/>
                </a:solidFill>
                <a:latin typeface="Arimo"/>
                <a:ea typeface="Arimo"/>
                <a:cs typeface="Arimo"/>
                <a:sym typeface="Arimo"/>
              </a:rPr>
              <a:t>introduced a new variable called date_contradiction_flag to identify rows where the dates violated their proper chronological order.</a:t>
            </a:r>
          </a:p>
          <a:p>
            <a:pPr marL="907653" lvl="2" indent="-302551" algn="l">
              <a:lnSpc>
                <a:spcPts val="5755"/>
              </a:lnSpc>
              <a:buFont typeface="Arial"/>
              <a:buChar char="⚬"/>
            </a:pPr>
            <a:r>
              <a:rPr lang="en-US" sz="3197">
                <a:solidFill>
                  <a:srgbClr val="FFFFFF"/>
                </a:solidFill>
                <a:latin typeface="Arimo"/>
                <a:ea typeface="Arimo"/>
                <a:cs typeface="Arimo"/>
                <a:sym typeface="Arimo"/>
              </a:rPr>
              <a:t> adjusted the earliest_credit_account to the earliest date among the three columns and adjusted the recent_trade_activity to the latest date among the three columns.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519628" y="8914343"/>
            <a:ext cx="5399736" cy="5399736"/>
          </a:xfrm>
          <a:custGeom>
            <a:avLst/>
            <a:gdLst/>
            <a:ahLst/>
            <a:cxnLst/>
            <a:rect l="l" t="t" r="r" b="b"/>
            <a:pathLst>
              <a:path w="5399736" h="5399736">
                <a:moveTo>
                  <a:pt x="0" y="0"/>
                </a:moveTo>
                <a:lnTo>
                  <a:pt x="5399736" y="0"/>
                </a:lnTo>
                <a:lnTo>
                  <a:pt x="5399736" y="5399736"/>
                </a:lnTo>
                <a:lnTo>
                  <a:pt x="0" y="539973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36461">
            <a:off x="14152110" y="-4118246"/>
            <a:ext cx="6566182" cy="6566182"/>
          </a:xfrm>
          <a:custGeom>
            <a:avLst/>
            <a:gdLst/>
            <a:ahLst/>
            <a:cxnLst/>
            <a:rect l="l" t="t" r="r" b="b"/>
            <a:pathLst>
              <a:path w="6566182" h="6566182">
                <a:moveTo>
                  <a:pt x="0" y="0"/>
                </a:moveTo>
                <a:lnTo>
                  <a:pt x="6566182" y="0"/>
                </a:lnTo>
                <a:lnTo>
                  <a:pt x="6566182" y="6566182"/>
                </a:lnTo>
                <a:lnTo>
                  <a:pt x="0" y="656618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0" y="714004"/>
            <a:ext cx="4566968" cy="655955"/>
          </a:xfrm>
          <a:prstGeom prst="rect">
            <a:avLst/>
          </a:prstGeom>
        </p:spPr>
        <p:txBody>
          <a:bodyPr lIns="0" tIns="0" rIns="0" bIns="0" rtlCol="0" anchor="t">
            <a:spAutoFit/>
          </a:bodyPr>
          <a:lstStyle/>
          <a:p>
            <a:pPr algn="ctr">
              <a:lnSpc>
                <a:spcPts val="5184"/>
              </a:lnSpc>
            </a:pPr>
            <a:r>
              <a:rPr lang="en-US" sz="4000" b="1">
                <a:solidFill>
                  <a:srgbClr val="4BD1FB"/>
                </a:solidFill>
                <a:latin typeface="Arimo Bold"/>
                <a:ea typeface="Arimo Bold"/>
                <a:cs typeface="Arimo Bold"/>
                <a:sym typeface="Arimo Bold"/>
              </a:rPr>
              <a:t>Handling Outlier</a:t>
            </a:r>
          </a:p>
        </p:txBody>
      </p:sp>
      <p:sp>
        <p:nvSpPr>
          <p:cNvPr id="5" name="TextBox 5"/>
          <p:cNvSpPr txBox="1"/>
          <p:nvPr/>
        </p:nvSpPr>
        <p:spPr>
          <a:xfrm>
            <a:off x="0" y="2287404"/>
            <a:ext cx="3630689" cy="1390650"/>
          </a:xfrm>
          <a:prstGeom prst="rect">
            <a:avLst/>
          </a:prstGeom>
        </p:spPr>
        <p:txBody>
          <a:bodyPr lIns="0" tIns="0" rIns="0" bIns="0" rtlCol="0" anchor="t">
            <a:spAutoFit/>
          </a:bodyPr>
          <a:lstStyle/>
          <a:p>
            <a:pPr algn="l">
              <a:lnSpc>
                <a:spcPts val="3600"/>
              </a:lnSpc>
            </a:pPr>
            <a:r>
              <a:rPr lang="en-US" sz="3000" b="1">
                <a:solidFill>
                  <a:srgbClr val="FFFFFF"/>
                </a:solidFill>
                <a:latin typeface="Arimo Bold"/>
                <a:ea typeface="Arimo Bold"/>
                <a:cs typeface="Arimo Bold"/>
                <a:sym typeface="Arimo Bold"/>
              </a:rPr>
              <a:t>   -   'income_level'</a:t>
            </a:r>
          </a:p>
          <a:p>
            <a:pPr algn="l">
              <a:lnSpc>
                <a:spcPts val="3600"/>
              </a:lnSpc>
            </a:pPr>
            <a:r>
              <a:rPr lang="en-US" sz="3000" b="1">
                <a:solidFill>
                  <a:srgbClr val="FFFFFF"/>
                </a:solidFill>
                <a:latin typeface="Arimo Bold"/>
                <a:ea typeface="Arimo Bold"/>
                <a:cs typeface="Arimo Bold"/>
                <a:sym typeface="Arimo Bold"/>
              </a:rPr>
              <a:t> </a:t>
            </a:r>
          </a:p>
          <a:p>
            <a:pPr algn="l">
              <a:lnSpc>
                <a:spcPts val="3600"/>
              </a:lnSpc>
            </a:pPr>
            <a:endParaRPr lang="en-US" sz="3000" b="1">
              <a:solidFill>
                <a:srgbClr val="FFFFFF"/>
              </a:solidFill>
              <a:latin typeface="Arimo Bold"/>
              <a:ea typeface="Arimo Bold"/>
              <a:cs typeface="Arimo Bold"/>
              <a:sym typeface="Arimo Bold"/>
            </a:endParaRPr>
          </a:p>
        </p:txBody>
      </p:sp>
      <p:sp>
        <p:nvSpPr>
          <p:cNvPr id="6" name="TextBox 6"/>
          <p:cNvSpPr txBox="1"/>
          <p:nvPr/>
        </p:nvSpPr>
        <p:spPr>
          <a:xfrm>
            <a:off x="1028700" y="2973204"/>
            <a:ext cx="17042609" cy="27622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   </a:t>
            </a:r>
          </a:p>
          <a:p>
            <a:pPr algn="l">
              <a:lnSpc>
                <a:spcPts val="3600"/>
              </a:lnSpc>
            </a:pPr>
            <a:r>
              <a:rPr lang="en-US" sz="3000">
                <a:solidFill>
                  <a:srgbClr val="FFFFFF"/>
                </a:solidFill>
                <a:latin typeface="Arimo"/>
                <a:ea typeface="Arimo"/>
                <a:cs typeface="Arimo"/>
                <a:sym typeface="Arimo"/>
              </a:rPr>
              <a:t> Outlier analysis for income levels was performed by dividing the dataset based on charge-off status </a:t>
            </a:r>
          </a:p>
          <a:p>
            <a:pPr algn="l">
              <a:lnSpc>
                <a:spcPts val="3600"/>
              </a:lnSpc>
            </a:pPr>
            <a:r>
              <a:rPr lang="en-US" sz="3000">
                <a:solidFill>
                  <a:srgbClr val="FFFFFF"/>
                </a:solidFill>
                <a:latin typeface="Arimo"/>
                <a:ea typeface="Arimo"/>
                <a:cs typeface="Arimo"/>
                <a:sym typeface="Arimo"/>
              </a:rPr>
              <a:t>(0 and 1). </a:t>
            </a:r>
          </a:p>
          <a:p>
            <a:pPr algn="l">
              <a:lnSpc>
                <a:spcPts val="3600"/>
              </a:lnSpc>
            </a:pPr>
            <a:r>
              <a:rPr lang="en-US" sz="3000">
                <a:solidFill>
                  <a:srgbClr val="FFFFFF"/>
                </a:solidFill>
                <a:latin typeface="Arimo"/>
                <a:ea typeface="Arimo"/>
                <a:cs typeface="Arimo"/>
                <a:sym typeface="Arimo"/>
              </a:rPr>
              <a:t> Income levels were further grouped by location and occupation to account for the influence of </a:t>
            </a:r>
          </a:p>
          <a:p>
            <a:pPr algn="l">
              <a:lnSpc>
                <a:spcPts val="3600"/>
              </a:lnSpc>
            </a:pPr>
            <a:r>
              <a:rPr lang="en-US" sz="3000">
                <a:solidFill>
                  <a:srgbClr val="FFFFFF"/>
                </a:solidFill>
                <a:latin typeface="Arimo"/>
                <a:ea typeface="Arimo"/>
                <a:cs typeface="Arimo"/>
                <a:sym typeface="Arimo"/>
              </a:rPr>
              <a:t>these factors on income distribution. </a:t>
            </a:r>
          </a:p>
          <a:p>
            <a:pPr algn="l">
              <a:lnSpc>
                <a:spcPts val="3600"/>
              </a:lnSpc>
            </a:pPr>
            <a:endParaRPr lang="en-US" sz="3000">
              <a:solidFill>
                <a:srgbClr val="FFFFFF"/>
              </a:solidFill>
              <a:latin typeface="Arimo"/>
              <a:ea typeface="Arimo"/>
              <a:cs typeface="Arimo"/>
              <a:sym typeface="Arim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519628" y="8914343"/>
            <a:ext cx="5399736" cy="5399736"/>
          </a:xfrm>
          <a:custGeom>
            <a:avLst/>
            <a:gdLst/>
            <a:ahLst/>
            <a:cxnLst/>
            <a:rect l="l" t="t" r="r" b="b"/>
            <a:pathLst>
              <a:path w="5399736" h="5399736">
                <a:moveTo>
                  <a:pt x="0" y="0"/>
                </a:moveTo>
                <a:lnTo>
                  <a:pt x="5399736" y="0"/>
                </a:lnTo>
                <a:lnTo>
                  <a:pt x="5399736" y="5399736"/>
                </a:lnTo>
                <a:lnTo>
                  <a:pt x="0" y="539973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36461">
            <a:off x="14152110" y="-4118246"/>
            <a:ext cx="6566182" cy="6566182"/>
          </a:xfrm>
          <a:custGeom>
            <a:avLst/>
            <a:gdLst/>
            <a:ahLst/>
            <a:cxnLst/>
            <a:rect l="l" t="t" r="r" b="b"/>
            <a:pathLst>
              <a:path w="6566182" h="6566182">
                <a:moveTo>
                  <a:pt x="0" y="0"/>
                </a:moveTo>
                <a:lnTo>
                  <a:pt x="6566182" y="0"/>
                </a:lnTo>
                <a:lnTo>
                  <a:pt x="6566182" y="6566182"/>
                </a:lnTo>
                <a:lnTo>
                  <a:pt x="0" y="656618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8093169" y="918330"/>
            <a:ext cx="7431401" cy="3940139"/>
          </a:xfrm>
          <a:custGeom>
            <a:avLst/>
            <a:gdLst/>
            <a:ahLst/>
            <a:cxnLst/>
            <a:rect l="l" t="t" r="r" b="b"/>
            <a:pathLst>
              <a:path w="7431401" h="3940139">
                <a:moveTo>
                  <a:pt x="0" y="0"/>
                </a:moveTo>
                <a:lnTo>
                  <a:pt x="7431401" y="0"/>
                </a:lnTo>
                <a:lnTo>
                  <a:pt x="7431401" y="3940139"/>
                </a:lnTo>
                <a:lnTo>
                  <a:pt x="0" y="3940139"/>
                </a:lnTo>
                <a:lnTo>
                  <a:pt x="0" y="0"/>
                </a:lnTo>
                <a:close/>
              </a:path>
            </a:pathLst>
          </a:custGeom>
          <a:blipFill>
            <a:blip r:embed="rId4"/>
            <a:stretch>
              <a:fillRect/>
            </a:stretch>
          </a:blipFill>
        </p:spPr>
      </p:sp>
      <p:sp>
        <p:nvSpPr>
          <p:cNvPr id="5" name="Freeform 5"/>
          <p:cNvSpPr/>
          <p:nvPr/>
        </p:nvSpPr>
        <p:spPr>
          <a:xfrm>
            <a:off x="8093169" y="5315593"/>
            <a:ext cx="7411307" cy="3929485"/>
          </a:xfrm>
          <a:custGeom>
            <a:avLst/>
            <a:gdLst/>
            <a:ahLst/>
            <a:cxnLst/>
            <a:rect l="l" t="t" r="r" b="b"/>
            <a:pathLst>
              <a:path w="7411307" h="3929485">
                <a:moveTo>
                  <a:pt x="0" y="0"/>
                </a:moveTo>
                <a:lnTo>
                  <a:pt x="7411307" y="0"/>
                </a:lnTo>
                <a:lnTo>
                  <a:pt x="7411307" y="3929485"/>
                </a:lnTo>
                <a:lnTo>
                  <a:pt x="0" y="3929485"/>
                </a:lnTo>
                <a:lnTo>
                  <a:pt x="0" y="0"/>
                </a:lnTo>
                <a:close/>
              </a:path>
            </a:pathLst>
          </a:custGeom>
          <a:blipFill>
            <a:blip r:embed="rId5"/>
            <a:stretch>
              <a:fillRect/>
            </a:stretch>
          </a:blipFill>
        </p:spPr>
      </p:sp>
      <p:sp>
        <p:nvSpPr>
          <p:cNvPr id="6" name="Freeform 6"/>
          <p:cNvSpPr/>
          <p:nvPr/>
        </p:nvSpPr>
        <p:spPr>
          <a:xfrm>
            <a:off x="412772" y="5315593"/>
            <a:ext cx="7436244" cy="3942707"/>
          </a:xfrm>
          <a:custGeom>
            <a:avLst/>
            <a:gdLst/>
            <a:ahLst/>
            <a:cxnLst/>
            <a:rect l="l" t="t" r="r" b="b"/>
            <a:pathLst>
              <a:path w="7436244" h="3942707">
                <a:moveTo>
                  <a:pt x="0" y="0"/>
                </a:moveTo>
                <a:lnTo>
                  <a:pt x="7436244" y="0"/>
                </a:lnTo>
                <a:lnTo>
                  <a:pt x="7436244" y="3942707"/>
                </a:lnTo>
                <a:lnTo>
                  <a:pt x="0" y="3942707"/>
                </a:lnTo>
                <a:lnTo>
                  <a:pt x="0" y="0"/>
                </a:lnTo>
                <a:close/>
              </a:path>
            </a:pathLst>
          </a:custGeom>
          <a:blipFill>
            <a:blip r:embed="rId6"/>
            <a:stretch>
              <a:fillRect/>
            </a:stretch>
          </a:blipFill>
        </p:spPr>
      </p:sp>
      <p:sp>
        <p:nvSpPr>
          <p:cNvPr id="7" name="Freeform 7"/>
          <p:cNvSpPr/>
          <p:nvPr/>
        </p:nvSpPr>
        <p:spPr>
          <a:xfrm>
            <a:off x="412772" y="918330"/>
            <a:ext cx="7504892" cy="3979104"/>
          </a:xfrm>
          <a:custGeom>
            <a:avLst/>
            <a:gdLst/>
            <a:ahLst/>
            <a:cxnLst/>
            <a:rect l="l" t="t" r="r" b="b"/>
            <a:pathLst>
              <a:path w="7504892" h="3979104">
                <a:moveTo>
                  <a:pt x="0" y="0"/>
                </a:moveTo>
                <a:lnTo>
                  <a:pt x="7504892" y="0"/>
                </a:lnTo>
                <a:lnTo>
                  <a:pt x="7504892" y="3979104"/>
                </a:lnTo>
                <a:lnTo>
                  <a:pt x="0" y="3979104"/>
                </a:lnTo>
                <a:lnTo>
                  <a:pt x="0" y="0"/>
                </a:lnTo>
                <a:close/>
              </a:path>
            </a:pathLst>
          </a:custGeom>
          <a:blipFill>
            <a:blip r:embed="rId7"/>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519628" y="8416581"/>
            <a:ext cx="5897498" cy="5897498"/>
          </a:xfrm>
          <a:custGeom>
            <a:avLst/>
            <a:gdLst/>
            <a:ahLst/>
            <a:cxnLst/>
            <a:rect l="l" t="t" r="r" b="b"/>
            <a:pathLst>
              <a:path w="5897498" h="5897498">
                <a:moveTo>
                  <a:pt x="0" y="0"/>
                </a:moveTo>
                <a:lnTo>
                  <a:pt x="5897498" y="0"/>
                </a:lnTo>
                <a:lnTo>
                  <a:pt x="5897498" y="5897498"/>
                </a:lnTo>
                <a:lnTo>
                  <a:pt x="0" y="589749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36461">
            <a:off x="15091825" y="-4167979"/>
            <a:ext cx="5571175" cy="5571175"/>
          </a:xfrm>
          <a:custGeom>
            <a:avLst/>
            <a:gdLst/>
            <a:ahLst/>
            <a:cxnLst/>
            <a:rect l="l" t="t" r="r" b="b"/>
            <a:pathLst>
              <a:path w="5571175" h="5571175">
                <a:moveTo>
                  <a:pt x="0" y="0"/>
                </a:moveTo>
                <a:lnTo>
                  <a:pt x="5571175" y="0"/>
                </a:lnTo>
                <a:lnTo>
                  <a:pt x="5571175" y="5571175"/>
                </a:lnTo>
                <a:lnTo>
                  <a:pt x="0" y="55711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8700" y="4139110"/>
            <a:ext cx="5268772" cy="4172646"/>
          </a:xfrm>
          <a:custGeom>
            <a:avLst/>
            <a:gdLst/>
            <a:ahLst/>
            <a:cxnLst/>
            <a:rect l="l" t="t" r="r" b="b"/>
            <a:pathLst>
              <a:path w="5268772" h="4172646">
                <a:moveTo>
                  <a:pt x="0" y="0"/>
                </a:moveTo>
                <a:lnTo>
                  <a:pt x="5268772" y="0"/>
                </a:lnTo>
                <a:lnTo>
                  <a:pt x="5268772" y="4172646"/>
                </a:lnTo>
                <a:lnTo>
                  <a:pt x="0" y="4172646"/>
                </a:lnTo>
                <a:lnTo>
                  <a:pt x="0" y="0"/>
                </a:lnTo>
                <a:close/>
              </a:path>
            </a:pathLst>
          </a:custGeom>
          <a:blipFill>
            <a:blip r:embed="rId4"/>
            <a:stretch>
              <a:fillRect/>
            </a:stretch>
          </a:blipFill>
        </p:spPr>
      </p:sp>
      <p:sp>
        <p:nvSpPr>
          <p:cNvPr id="5" name="Freeform 5"/>
          <p:cNvSpPr/>
          <p:nvPr/>
        </p:nvSpPr>
        <p:spPr>
          <a:xfrm>
            <a:off x="6547380" y="4139110"/>
            <a:ext cx="5193241" cy="4178576"/>
          </a:xfrm>
          <a:custGeom>
            <a:avLst/>
            <a:gdLst/>
            <a:ahLst/>
            <a:cxnLst/>
            <a:rect l="l" t="t" r="r" b="b"/>
            <a:pathLst>
              <a:path w="5193241" h="4178576">
                <a:moveTo>
                  <a:pt x="0" y="0"/>
                </a:moveTo>
                <a:lnTo>
                  <a:pt x="5193240" y="0"/>
                </a:lnTo>
                <a:lnTo>
                  <a:pt x="5193240" y="4178576"/>
                </a:lnTo>
                <a:lnTo>
                  <a:pt x="0" y="4178576"/>
                </a:lnTo>
                <a:lnTo>
                  <a:pt x="0" y="0"/>
                </a:lnTo>
                <a:close/>
              </a:path>
            </a:pathLst>
          </a:custGeom>
          <a:blipFill>
            <a:blip r:embed="rId5"/>
            <a:stretch>
              <a:fillRect/>
            </a:stretch>
          </a:blipFill>
        </p:spPr>
      </p:sp>
      <p:sp>
        <p:nvSpPr>
          <p:cNvPr id="6" name="Freeform 6"/>
          <p:cNvSpPr/>
          <p:nvPr/>
        </p:nvSpPr>
        <p:spPr>
          <a:xfrm>
            <a:off x="11988270" y="5038675"/>
            <a:ext cx="6169136" cy="3273081"/>
          </a:xfrm>
          <a:custGeom>
            <a:avLst/>
            <a:gdLst/>
            <a:ahLst/>
            <a:cxnLst/>
            <a:rect l="l" t="t" r="r" b="b"/>
            <a:pathLst>
              <a:path w="6169136" h="3273081">
                <a:moveTo>
                  <a:pt x="0" y="0"/>
                </a:moveTo>
                <a:lnTo>
                  <a:pt x="6169137" y="0"/>
                </a:lnTo>
                <a:lnTo>
                  <a:pt x="6169137" y="3273081"/>
                </a:lnTo>
                <a:lnTo>
                  <a:pt x="0" y="3273081"/>
                </a:lnTo>
                <a:lnTo>
                  <a:pt x="0" y="0"/>
                </a:lnTo>
                <a:close/>
              </a:path>
            </a:pathLst>
          </a:custGeom>
          <a:blipFill>
            <a:blip r:embed="rId6"/>
            <a:stretch>
              <a:fillRect/>
            </a:stretch>
          </a:blipFill>
        </p:spPr>
      </p:sp>
      <p:sp>
        <p:nvSpPr>
          <p:cNvPr id="7" name="TextBox 7"/>
          <p:cNvSpPr txBox="1"/>
          <p:nvPr/>
        </p:nvSpPr>
        <p:spPr>
          <a:xfrm>
            <a:off x="401281" y="462460"/>
            <a:ext cx="3132927" cy="1390650"/>
          </a:xfrm>
          <a:prstGeom prst="rect">
            <a:avLst/>
          </a:prstGeom>
        </p:spPr>
        <p:txBody>
          <a:bodyPr lIns="0" tIns="0" rIns="0" bIns="0" rtlCol="0" anchor="t">
            <a:spAutoFit/>
          </a:bodyPr>
          <a:lstStyle/>
          <a:p>
            <a:pPr algn="l">
              <a:lnSpc>
                <a:spcPts val="3600"/>
              </a:lnSpc>
            </a:pPr>
            <a:r>
              <a:rPr lang="en-US" sz="3000" b="1">
                <a:solidFill>
                  <a:srgbClr val="FFFFFF"/>
                </a:solidFill>
                <a:latin typeface="Arimo Bold"/>
                <a:ea typeface="Arimo Bold"/>
                <a:cs typeface="Arimo Bold"/>
                <a:sym typeface="Arimo Bold"/>
              </a:rPr>
              <a:t>   -   'FICO score'</a:t>
            </a:r>
          </a:p>
          <a:p>
            <a:pPr algn="l">
              <a:lnSpc>
                <a:spcPts val="3600"/>
              </a:lnSpc>
            </a:pPr>
            <a:r>
              <a:rPr lang="en-US" sz="3000" b="1">
                <a:solidFill>
                  <a:srgbClr val="FFFFFF"/>
                </a:solidFill>
                <a:latin typeface="Arimo Bold"/>
                <a:ea typeface="Arimo Bold"/>
                <a:cs typeface="Arimo Bold"/>
                <a:sym typeface="Arimo Bold"/>
              </a:rPr>
              <a:t> </a:t>
            </a:r>
          </a:p>
          <a:p>
            <a:pPr algn="l">
              <a:lnSpc>
                <a:spcPts val="3600"/>
              </a:lnSpc>
            </a:pPr>
            <a:endParaRPr lang="en-US" sz="3000" b="1">
              <a:solidFill>
                <a:srgbClr val="FFFFFF"/>
              </a:solidFill>
              <a:latin typeface="Arimo Bold"/>
              <a:ea typeface="Arimo Bold"/>
              <a:cs typeface="Arimo Bold"/>
              <a:sym typeface="Arimo Bold"/>
            </a:endParaRPr>
          </a:p>
        </p:txBody>
      </p:sp>
      <p:sp>
        <p:nvSpPr>
          <p:cNvPr id="8" name="TextBox 8"/>
          <p:cNvSpPr txBox="1"/>
          <p:nvPr/>
        </p:nvSpPr>
        <p:spPr>
          <a:xfrm>
            <a:off x="1756300" y="1205410"/>
            <a:ext cx="13973077" cy="4762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Outliers in the FICO score variable were removed based on its valid range.</a:t>
            </a:r>
          </a:p>
        </p:txBody>
      </p:sp>
      <p:sp>
        <p:nvSpPr>
          <p:cNvPr id="9" name="TextBox 9"/>
          <p:cNvSpPr txBox="1"/>
          <p:nvPr/>
        </p:nvSpPr>
        <p:spPr>
          <a:xfrm>
            <a:off x="401281" y="2291260"/>
            <a:ext cx="15079215" cy="1390650"/>
          </a:xfrm>
          <a:prstGeom prst="rect">
            <a:avLst/>
          </a:prstGeom>
        </p:spPr>
        <p:txBody>
          <a:bodyPr lIns="0" tIns="0" rIns="0" bIns="0" rtlCol="0" anchor="t">
            <a:spAutoFit/>
          </a:bodyPr>
          <a:lstStyle/>
          <a:p>
            <a:pPr algn="l">
              <a:lnSpc>
                <a:spcPts val="3600"/>
              </a:lnSpc>
            </a:pPr>
            <a:r>
              <a:rPr lang="en-US" sz="3000" b="1">
                <a:solidFill>
                  <a:srgbClr val="FFFFFF"/>
                </a:solidFill>
                <a:latin typeface="Arimo Bold"/>
                <a:ea typeface="Arimo Bold"/>
                <a:cs typeface="Arimo Bold"/>
                <a:sym typeface="Arimo Bold"/>
              </a:rPr>
              <a:t>   -   'delinquency_status’, 'number_of_credit_applications' and 'max_balance' </a:t>
            </a:r>
          </a:p>
          <a:p>
            <a:pPr algn="l">
              <a:lnSpc>
                <a:spcPts val="3600"/>
              </a:lnSpc>
            </a:pPr>
            <a:r>
              <a:rPr lang="en-US" sz="3000" b="1">
                <a:solidFill>
                  <a:srgbClr val="FFFFFF"/>
                </a:solidFill>
                <a:latin typeface="Arimo Bold"/>
                <a:ea typeface="Arimo Bold"/>
                <a:cs typeface="Arimo Bold"/>
                <a:sym typeface="Arimo Bold"/>
              </a:rPr>
              <a:t> </a:t>
            </a:r>
          </a:p>
          <a:p>
            <a:pPr algn="l">
              <a:lnSpc>
                <a:spcPts val="3600"/>
              </a:lnSpc>
            </a:pPr>
            <a:endParaRPr lang="en-US" sz="3000" b="1">
              <a:solidFill>
                <a:srgbClr val="FFFFFF"/>
              </a:solidFill>
              <a:latin typeface="Arimo Bold"/>
              <a:ea typeface="Arimo Bold"/>
              <a:cs typeface="Arimo Bold"/>
              <a:sym typeface="Arimo Bold"/>
            </a:endParaRPr>
          </a:p>
        </p:txBody>
      </p:sp>
      <p:sp>
        <p:nvSpPr>
          <p:cNvPr id="10" name="TextBox 10"/>
          <p:cNvSpPr txBox="1"/>
          <p:nvPr/>
        </p:nvSpPr>
        <p:spPr>
          <a:xfrm>
            <a:off x="1756300" y="2062660"/>
            <a:ext cx="15106868" cy="18478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 </a:t>
            </a:r>
          </a:p>
          <a:p>
            <a:pPr algn="l">
              <a:lnSpc>
                <a:spcPts val="3600"/>
              </a:lnSpc>
            </a:pPr>
            <a:endParaRPr lang="en-US" sz="3000">
              <a:solidFill>
                <a:srgbClr val="FFFFFF"/>
              </a:solidFill>
              <a:latin typeface="Arimo"/>
              <a:ea typeface="Arimo"/>
              <a:cs typeface="Arimo"/>
              <a:sym typeface="Arimo"/>
            </a:endParaRPr>
          </a:p>
          <a:p>
            <a:pPr algn="l">
              <a:lnSpc>
                <a:spcPts val="3600"/>
              </a:lnSpc>
            </a:pPr>
            <a:r>
              <a:rPr lang="en-US" sz="3000">
                <a:solidFill>
                  <a:srgbClr val="FFFFFF"/>
                </a:solidFill>
                <a:latin typeface="Arimo"/>
                <a:ea typeface="Arimo"/>
                <a:cs typeface="Arimo"/>
                <a:sym typeface="Arimo"/>
              </a:rPr>
              <a:t> A log transformation was applied to reducing the impact of outliers on the analysis. </a:t>
            </a:r>
          </a:p>
          <a:p>
            <a:pPr algn="l">
              <a:lnSpc>
                <a:spcPts val="3600"/>
              </a:lnSpc>
            </a:pPr>
            <a:endParaRPr lang="en-US" sz="3000">
              <a:solidFill>
                <a:srgbClr val="FFFFFF"/>
              </a:solidFill>
              <a:latin typeface="Arimo"/>
              <a:ea typeface="Arimo"/>
              <a:cs typeface="Arimo"/>
              <a:sym typeface="Arim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519628" y="8416581"/>
            <a:ext cx="5897498" cy="5897498"/>
          </a:xfrm>
          <a:custGeom>
            <a:avLst/>
            <a:gdLst/>
            <a:ahLst/>
            <a:cxnLst/>
            <a:rect l="l" t="t" r="r" b="b"/>
            <a:pathLst>
              <a:path w="5897498" h="5897498">
                <a:moveTo>
                  <a:pt x="0" y="0"/>
                </a:moveTo>
                <a:lnTo>
                  <a:pt x="5897498" y="0"/>
                </a:lnTo>
                <a:lnTo>
                  <a:pt x="5897498" y="5897498"/>
                </a:lnTo>
                <a:lnTo>
                  <a:pt x="0" y="589749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36461">
            <a:off x="15091825" y="-4167979"/>
            <a:ext cx="5571175" cy="5571175"/>
          </a:xfrm>
          <a:custGeom>
            <a:avLst/>
            <a:gdLst/>
            <a:ahLst/>
            <a:cxnLst/>
            <a:rect l="l" t="t" r="r" b="b"/>
            <a:pathLst>
              <a:path w="5571175" h="5571175">
                <a:moveTo>
                  <a:pt x="0" y="0"/>
                </a:moveTo>
                <a:lnTo>
                  <a:pt x="5571175" y="0"/>
                </a:lnTo>
                <a:lnTo>
                  <a:pt x="5571175" y="5571175"/>
                </a:lnTo>
                <a:lnTo>
                  <a:pt x="0" y="55711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5862121" y="1468378"/>
            <a:ext cx="5691252" cy="3930087"/>
          </a:xfrm>
          <a:custGeom>
            <a:avLst/>
            <a:gdLst/>
            <a:ahLst/>
            <a:cxnLst/>
            <a:rect l="l" t="t" r="r" b="b"/>
            <a:pathLst>
              <a:path w="5691252" h="3930087">
                <a:moveTo>
                  <a:pt x="0" y="0"/>
                </a:moveTo>
                <a:lnTo>
                  <a:pt x="5691252" y="0"/>
                </a:lnTo>
                <a:lnTo>
                  <a:pt x="5691252" y="3930087"/>
                </a:lnTo>
                <a:lnTo>
                  <a:pt x="0" y="3930087"/>
                </a:lnTo>
                <a:lnTo>
                  <a:pt x="0" y="0"/>
                </a:lnTo>
                <a:close/>
              </a:path>
            </a:pathLst>
          </a:custGeom>
          <a:blipFill>
            <a:blip r:embed="rId4"/>
            <a:stretch>
              <a:fillRect/>
            </a:stretch>
          </a:blipFill>
        </p:spPr>
      </p:sp>
      <p:sp>
        <p:nvSpPr>
          <p:cNvPr id="5" name="Freeform 5"/>
          <p:cNvSpPr/>
          <p:nvPr/>
        </p:nvSpPr>
        <p:spPr>
          <a:xfrm>
            <a:off x="429121" y="1468378"/>
            <a:ext cx="5049251" cy="3930087"/>
          </a:xfrm>
          <a:custGeom>
            <a:avLst/>
            <a:gdLst/>
            <a:ahLst/>
            <a:cxnLst/>
            <a:rect l="l" t="t" r="r" b="b"/>
            <a:pathLst>
              <a:path w="5049251" h="3930087">
                <a:moveTo>
                  <a:pt x="0" y="0"/>
                </a:moveTo>
                <a:lnTo>
                  <a:pt x="5049251" y="0"/>
                </a:lnTo>
                <a:lnTo>
                  <a:pt x="5049251" y="3930087"/>
                </a:lnTo>
                <a:lnTo>
                  <a:pt x="0" y="3930087"/>
                </a:lnTo>
                <a:lnTo>
                  <a:pt x="0" y="0"/>
                </a:lnTo>
                <a:close/>
              </a:path>
            </a:pathLst>
          </a:custGeom>
          <a:blipFill>
            <a:blip r:embed="rId5"/>
            <a:stretch>
              <a:fillRect/>
            </a:stretch>
          </a:blipFill>
        </p:spPr>
      </p:sp>
      <p:sp>
        <p:nvSpPr>
          <p:cNvPr id="6" name="Freeform 6"/>
          <p:cNvSpPr/>
          <p:nvPr/>
        </p:nvSpPr>
        <p:spPr>
          <a:xfrm>
            <a:off x="5862121" y="5892082"/>
            <a:ext cx="7970858" cy="4228998"/>
          </a:xfrm>
          <a:custGeom>
            <a:avLst/>
            <a:gdLst/>
            <a:ahLst/>
            <a:cxnLst/>
            <a:rect l="l" t="t" r="r" b="b"/>
            <a:pathLst>
              <a:path w="7970858" h="4228998">
                <a:moveTo>
                  <a:pt x="0" y="0"/>
                </a:moveTo>
                <a:lnTo>
                  <a:pt x="7970858" y="0"/>
                </a:lnTo>
                <a:lnTo>
                  <a:pt x="7970858" y="4228997"/>
                </a:lnTo>
                <a:lnTo>
                  <a:pt x="0" y="4228997"/>
                </a:lnTo>
                <a:lnTo>
                  <a:pt x="0" y="0"/>
                </a:lnTo>
                <a:close/>
              </a:path>
            </a:pathLst>
          </a:custGeom>
          <a:blipFill>
            <a:blip r:embed="rId6"/>
            <a:stretch>
              <a:fillRect/>
            </a:stretch>
          </a:blipFill>
        </p:spPr>
      </p:sp>
      <p:sp>
        <p:nvSpPr>
          <p:cNvPr id="7" name="TextBox 7"/>
          <p:cNvSpPr txBox="1"/>
          <p:nvPr/>
        </p:nvSpPr>
        <p:spPr>
          <a:xfrm>
            <a:off x="378651" y="781050"/>
            <a:ext cx="4681520" cy="4762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After log Transformation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519628" y="8361274"/>
            <a:ext cx="5952805" cy="5952805"/>
          </a:xfrm>
          <a:custGeom>
            <a:avLst/>
            <a:gdLst/>
            <a:ahLst/>
            <a:cxnLst/>
            <a:rect l="l" t="t" r="r" b="b"/>
            <a:pathLst>
              <a:path w="5952805" h="5952805">
                <a:moveTo>
                  <a:pt x="0" y="0"/>
                </a:moveTo>
                <a:lnTo>
                  <a:pt x="5952805" y="0"/>
                </a:lnTo>
                <a:lnTo>
                  <a:pt x="5952805" y="5952805"/>
                </a:lnTo>
                <a:lnTo>
                  <a:pt x="0" y="595280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36461">
            <a:off x="14813767" y="-4153264"/>
            <a:ext cx="5865594" cy="5865594"/>
          </a:xfrm>
          <a:custGeom>
            <a:avLst/>
            <a:gdLst/>
            <a:ahLst/>
            <a:cxnLst/>
            <a:rect l="l" t="t" r="r" b="b"/>
            <a:pathLst>
              <a:path w="5865594" h="5865594">
                <a:moveTo>
                  <a:pt x="0" y="0"/>
                </a:moveTo>
                <a:lnTo>
                  <a:pt x="5865594" y="0"/>
                </a:lnTo>
                <a:lnTo>
                  <a:pt x="5865594" y="5865594"/>
                </a:lnTo>
                <a:lnTo>
                  <a:pt x="0" y="586559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678987" y="3137825"/>
            <a:ext cx="7711010" cy="4091134"/>
          </a:xfrm>
          <a:custGeom>
            <a:avLst/>
            <a:gdLst/>
            <a:ahLst/>
            <a:cxnLst/>
            <a:rect l="l" t="t" r="r" b="b"/>
            <a:pathLst>
              <a:path w="7711010" h="4091134">
                <a:moveTo>
                  <a:pt x="0" y="0"/>
                </a:moveTo>
                <a:lnTo>
                  <a:pt x="7711010" y="0"/>
                </a:lnTo>
                <a:lnTo>
                  <a:pt x="7711010" y="4091134"/>
                </a:lnTo>
                <a:lnTo>
                  <a:pt x="0" y="4091134"/>
                </a:lnTo>
                <a:lnTo>
                  <a:pt x="0" y="0"/>
                </a:lnTo>
                <a:close/>
              </a:path>
            </a:pathLst>
          </a:custGeom>
          <a:blipFill>
            <a:blip r:embed="rId4"/>
            <a:stretch>
              <a:fillRect/>
            </a:stretch>
          </a:blipFill>
        </p:spPr>
      </p:sp>
      <p:sp>
        <p:nvSpPr>
          <p:cNvPr id="5" name="Freeform 5"/>
          <p:cNvSpPr/>
          <p:nvPr/>
        </p:nvSpPr>
        <p:spPr>
          <a:xfrm>
            <a:off x="9548290" y="3137825"/>
            <a:ext cx="7711010" cy="4091134"/>
          </a:xfrm>
          <a:custGeom>
            <a:avLst/>
            <a:gdLst/>
            <a:ahLst/>
            <a:cxnLst/>
            <a:rect l="l" t="t" r="r" b="b"/>
            <a:pathLst>
              <a:path w="7711010" h="4091134">
                <a:moveTo>
                  <a:pt x="0" y="0"/>
                </a:moveTo>
                <a:lnTo>
                  <a:pt x="7711010" y="0"/>
                </a:lnTo>
                <a:lnTo>
                  <a:pt x="7711010" y="4091134"/>
                </a:lnTo>
                <a:lnTo>
                  <a:pt x="0" y="4091134"/>
                </a:lnTo>
                <a:lnTo>
                  <a:pt x="0" y="0"/>
                </a:lnTo>
                <a:close/>
              </a:path>
            </a:pathLst>
          </a:custGeom>
          <a:blipFill>
            <a:blip r:embed="rId5"/>
            <a:stretch>
              <a:fillRect/>
            </a:stretch>
          </a:blipFill>
        </p:spPr>
      </p:sp>
      <p:sp>
        <p:nvSpPr>
          <p:cNvPr id="6" name="TextBox 6"/>
          <p:cNvSpPr txBox="1"/>
          <p:nvPr/>
        </p:nvSpPr>
        <p:spPr>
          <a:xfrm>
            <a:off x="1678987" y="928283"/>
            <a:ext cx="15939807" cy="1847850"/>
          </a:xfrm>
          <a:prstGeom prst="rect">
            <a:avLst/>
          </a:prstGeom>
        </p:spPr>
        <p:txBody>
          <a:bodyPr lIns="0" tIns="0" rIns="0" bIns="0" rtlCol="0" anchor="t">
            <a:spAutoFit/>
          </a:bodyPr>
          <a:lstStyle/>
          <a:p>
            <a:pPr algn="l">
              <a:lnSpc>
                <a:spcPts val="3600"/>
              </a:lnSpc>
            </a:pPr>
            <a:endParaRPr/>
          </a:p>
          <a:p>
            <a:pPr algn="l">
              <a:lnSpc>
                <a:spcPts val="3600"/>
              </a:lnSpc>
            </a:pPr>
            <a:r>
              <a:rPr lang="en-US" sz="3000">
                <a:solidFill>
                  <a:srgbClr val="FFFFFF"/>
                </a:solidFill>
                <a:latin typeface="Arimo"/>
                <a:ea typeface="Arimo"/>
                <a:cs typeface="Arimo"/>
                <a:sym typeface="Arimo"/>
              </a:rPr>
              <a:t>Observed a cluster of outliers with debt_to_income ratios greater than 4,</a:t>
            </a:r>
          </a:p>
          <a:p>
            <a:pPr algn="l">
              <a:lnSpc>
                <a:spcPts val="3600"/>
              </a:lnSpc>
            </a:pPr>
            <a:r>
              <a:rPr lang="en-US" sz="3000">
                <a:solidFill>
                  <a:srgbClr val="FFFFFF"/>
                </a:solidFill>
                <a:latin typeface="Arimo"/>
                <a:ea typeface="Arimo"/>
                <a:cs typeface="Arimo"/>
                <a:sym typeface="Arimo"/>
              </a:rPr>
              <a:t>Rows with debt_to_income values greater than 4 were removed to eliminate extreme cases.</a:t>
            </a:r>
          </a:p>
          <a:p>
            <a:pPr algn="l">
              <a:lnSpc>
                <a:spcPts val="3600"/>
              </a:lnSpc>
            </a:pPr>
            <a:endParaRPr lang="en-US" sz="3000">
              <a:solidFill>
                <a:srgbClr val="FFFFFF"/>
              </a:solidFill>
              <a:latin typeface="Arimo"/>
              <a:ea typeface="Arimo"/>
              <a:cs typeface="Arimo"/>
              <a:sym typeface="Arimo"/>
            </a:endParaRPr>
          </a:p>
        </p:txBody>
      </p:sp>
      <p:sp>
        <p:nvSpPr>
          <p:cNvPr id="7" name="TextBox 7"/>
          <p:cNvSpPr txBox="1"/>
          <p:nvPr/>
        </p:nvSpPr>
        <p:spPr>
          <a:xfrm>
            <a:off x="553681" y="614860"/>
            <a:ext cx="4432639" cy="1390650"/>
          </a:xfrm>
          <a:prstGeom prst="rect">
            <a:avLst/>
          </a:prstGeom>
        </p:spPr>
        <p:txBody>
          <a:bodyPr lIns="0" tIns="0" rIns="0" bIns="0" rtlCol="0" anchor="t">
            <a:spAutoFit/>
          </a:bodyPr>
          <a:lstStyle/>
          <a:p>
            <a:pPr algn="l">
              <a:lnSpc>
                <a:spcPts val="3600"/>
              </a:lnSpc>
            </a:pPr>
            <a:r>
              <a:rPr lang="en-US" sz="3000" b="1">
                <a:solidFill>
                  <a:srgbClr val="FFFFFF"/>
                </a:solidFill>
                <a:latin typeface="Arimo Bold"/>
                <a:ea typeface="Arimo Bold"/>
                <a:cs typeface="Arimo Bold"/>
                <a:sym typeface="Arimo Bold"/>
              </a:rPr>
              <a:t>   -   ’debt_to_income’</a:t>
            </a:r>
          </a:p>
          <a:p>
            <a:pPr algn="l">
              <a:lnSpc>
                <a:spcPts val="3600"/>
              </a:lnSpc>
            </a:pPr>
            <a:r>
              <a:rPr lang="en-US" sz="3000" b="1">
                <a:solidFill>
                  <a:srgbClr val="FFFFFF"/>
                </a:solidFill>
                <a:latin typeface="Arimo Bold"/>
                <a:ea typeface="Arimo Bold"/>
                <a:cs typeface="Arimo Bold"/>
                <a:sym typeface="Arimo Bold"/>
              </a:rPr>
              <a:t> </a:t>
            </a:r>
          </a:p>
          <a:p>
            <a:pPr algn="l">
              <a:lnSpc>
                <a:spcPts val="3600"/>
              </a:lnSpc>
            </a:pPr>
            <a:endParaRPr lang="en-US" sz="3000" b="1">
              <a:solidFill>
                <a:srgbClr val="FFFFFF"/>
              </a:solidFill>
              <a:latin typeface="Arimo Bold"/>
              <a:ea typeface="Arimo Bold"/>
              <a:cs typeface="Arimo Bold"/>
              <a:sym typeface="Arimo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519628" y="8361274"/>
            <a:ext cx="5952805" cy="5952805"/>
          </a:xfrm>
          <a:custGeom>
            <a:avLst/>
            <a:gdLst/>
            <a:ahLst/>
            <a:cxnLst/>
            <a:rect l="l" t="t" r="r" b="b"/>
            <a:pathLst>
              <a:path w="5952805" h="5952805">
                <a:moveTo>
                  <a:pt x="0" y="0"/>
                </a:moveTo>
                <a:lnTo>
                  <a:pt x="5952805" y="0"/>
                </a:lnTo>
                <a:lnTo>
                  <a:pt x="5952805" y="5952805"/>
                </a:lnTo>
                <a:lnTo>
                  <a:pt x="0" y="595280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36461">
            <a:off x="15134848" y="-4170256"/>
            <a:ext cx="5525620" cy="5525620"/>
          </a:xfrm>
          <a:custGeom>
            <a:avLst/>
            <a:gdLst/>
            <a:ahLst/>
            <a:cxnLst/>
            <a:rect l="l" t="t" r="r" b="b"/>
            <a:pathLst>
              <a:path w="5525620" h="5525620">
                <a:moveTo>
                  <a:pt x="0" y="0"/>
                </a:moveTo>
                <a:lnTo>
                  <a:pt x="5525621" y="0"/>
                </a:lnTo>
                <a:lnTo>
                  <a:pt x="5525621" y="5525620"/>
                </a:lnTo>
                <a:lnTo>
                  <a:pt x="0" y="552562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810540" y="2721109"/>
            <a:ext cx="7333460" cy="5640166"/>
          </a:xfrm>
          <a:custGeom>
            <a:avLst/>
            <a:gdLst/>
            <a:ahLst/>
            <a:cxnLst/>
            <a:rect l="l" t="t" r="r" b="b"/>
            <a:pathLst>
              <a:path w="7333460" h="5640166">
                <a:moveTo>
                  <a:pt x="0" y="0"/>
                </a:moveTo>
                <a:lnTo>
                  <a:pt x="7333460" y="0"/>
                </a:lnTo>
                <a:lnTo>
                  <a:pt x="7333460" y="5640165"/>
                </a:lnTo>
                <a:lnTo>
                  <a:pt x="0" y="5640165"/>
                </a:lnTo>
                <a:lnTo>
                  <a:pt x="0" y="0"/>
                </a:lnTo>
                <a:close/>
              </a:path>
            </a:pathLst>
          </a:custGeom>
          <a:blipFill>
            <a:blip r:embed="rId4"/>
            <a:stretch>
              <a:fillRect/>
            </a:stretch>
          </a:blipFill>
        </p:spPr>
      </p:sp>
      <p:sp>
        <p:nvSpPr>
          <p:cNvPr id="5" name="Freeform 5"/>
          <p:cNvSpPr/>
          <p:nvPr/>
        </p:nvSpPr>
        <p:spPr>
          <a:xfrm>
            <a:off x="9648891" y="2691310"/>
            <a:ext cx="7333460" cy="5640166"/>
          </a:xfrm>
          <a:custGeom>
            <a:avLst/>
            <a:gdLst/>
            <a:ahLst/>
            <a:cxnLst/>
            <a:rect l="l" t="t" r="r" b="b"/>
            <a:pathLst>
              <a:path w="7333460" h="5640166">
                <a:moveTo>
                  <a:pt x="0" y="0"/>
                </a:moveTo>
                <a:lnTo>
                  <a:pt x="7333460" y="0"/>
                </a:lnTo>
                <a:lnTo>
                  <a:pt x="7333460" y="5640166"/>
                </a:lnTo>
                <a:lnTo>
                  <a:pt x="0" y="5640166"/>
                </a:lnTo>
                <a:lnTo>
                  <a:pt x="0" y="0"/>
                </a:lnTo>
                <a:close/>
              </a:path>
            </a:pathLst>
          </a:custGeom>
          <a:blipFill>
            <a:blip r:embed="rId5"/>
            <a:stretch>
              <a:fillRect/>
            </a:stretch>
          </a:blipFill>
        </p:spPr>
      </p:sp>
      <p:sp>
        <p:nvSpPr>
          <p:cNvPr id="6" name="TextBox 6"/>
          <p:cNvSpPr txBox="1"/>
          <p:nvPr/>
        </p:nvSpPr>
        <p:spPr>
          <a:xfrm>
            <a:off x="1678987" y="1300660"/>
            <a:ext cx="15939807" cy="13906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Outliers in the avg_balance_last_12months were identified. A capping approach was applied For each charge-off status group.</a:t>
            </a:r>
          </a:p>
          <a:p>
            <a:pPr algn="l">
              <a:lnSpc>
                <a:spcPts val="3600"/>
              </a:lnSpc>
            </a:pPr>
            <a:endParaRPr lang="en-US" sz="3000">
              <a:solidFill>
                <a:srgbClr val="FFFFFF"/>
              </a:solidFill>
              <a:latin typeface="Arimo"/>
              <a:ea typeface="Arimo"/>
              <a:cs typeface="Arimo"/>
              <a:sym typeface="Arimo"/>
            </a:endParaRPr>
          </a:p>
        </p:txBody>
      </p:sp>
      <p:sp>
        <p:nvSpPr>
          <p:cNvPr id="7" name="TextBox 7"/>
          <p:cNvSpPr txBox="1"/>
          <p:nvPr/>
        </p:nvSpPr>
        <p:spPr>
          <a:xfrm>
            <a:off x="553681" y="614860"/>
            <a:ext cx="6506647" cy="1390650"/>
          </a:xfrm>
          <a:prstGeom prst="rect">
            <a:avLst/>
          </a:prstGeom>
        </p:spPr>
        <p:txBody>
          <a:bodyPr lIns="0" tIns="0" rIns="0" bIns="0" rtlCol="0" anchor="t">
            <a:spAutoFit/>
          </a:bodyPr>
          <a:lstStyle/>
          <a:p>
            <a:pPr algn="l">
              <a:lnSpc>
                <a:spcPts val="3600"/>
              </a:lnSpc>
            </a:pPr>
            <a:r>
              <a:rPr lang="en-US" sz="3000" b="1">
                <a:solidFill>
                  <a:srgbClr val="FFFFFF"/>
                </a:solidFill>
                <a:latin typeface="Arimo Bold"/>
                <a:ea typeface="Arimo Bold"/>
                <a:cs typeface="Arimo Bold"/>
                <a:sym typeface="Arimo Bold"/>
              </a:rPr>
              <a:t>   -   ’avg_balance_last_12months’</a:t>
            </a:r>
          </a:p>
          <a:p>
            <a:pPr algn="l">
              <a:lnSpc>
                <a:spcPts val="3600"/>
              </a:lnSpc>
            </a:pPr>
            <a:r>
              <a:rPr lang="en-US" sz="3000" b="1">
                <a:solidFill>
                  <a:srgbClr val="FFFFFF"/>
                </a:solidFill>
                <a:latin typeface="Arimo Bold"/>
                <a:ea typeface="Arimo Bold"/>
                <a:cs typeface="Arimo Bold"/>
                <a:sym typeface="Arimo Bold"/>
              </a:rPr>
              <a:t> </a:t>
            </a:r>
          </a:p>
          <a:p>
            <a:pPr algn="l">
              <a:lnSpc>
                <a:spcPts val="3600"/>
              </a:lnSpc>
            </a:pPr>
            <a:endParaRPr lang="en-US" sz="3000" b="1">
              <a:solidFill>
                <a:srgbClr val="FFFFFF"/>
              </a:solidFill>
              <a:latin typeface="Arimo Bold"/>
              <a:ea typeface="Arimo Bold"/>
              <a:cs typeface="Arimo Bold"/>
              <a:sym typeface="Arimo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622339" y="8683786"/>
            <a:ext cx="5571813" cy="4832282"/>
          </a:xfrm>
          <a:custGeom>
            <a:avLst/>
            <a:gdLst/>
            <a:ahLst/>
            <a:cxnLst/>
            <a:rect l="l" t="t" r="r" b="b"/>
            <a:pathLst>
              <a:path w="5571813" h="4832282">
                <a:moveTo>
                  <a:pt x="0" y="0"/>
                </a:moveTo>
                <a:lnTo>
                  <a:pt x="5571813" y="0"/>
                </a:lnTo>
                <a:lnTo>
                  <a:pt x="5571813" y="4832282"/>
                </a:lnTo>
                <a:lnTo>
                  <a:pt x="0" y="483228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800000">
            <a:off x="15191050" y="-2798190"/>
            <a:ext cx="4629198" cy="4014777"/>
          </a:xfrm>
          <a:custGeom>
            <a:avLst/>
            <a:gdLst/>
            <a:ahLst/>
            <a:cxnLst/>
            <a:rect l="l" t="t" r="r" b="b"/>
            <a:pathLst>
              <a:path w="4629198" h="4014777">
                <a:moveTo>
                  <a:pt x="0" y="0"/>
                </a:moveTo>
                <a:lnTo>
                  <a:pt x="4629198" y="0"/>
                </a:lnTo>
                <a:lnTo>
                  <a:pt x="4629198" y="4014777"/>
                </a:lnTo>
                <a:lnTo>
                  <a:pt x="0" y="401477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3638886" y="1358166"/>
            <a:ext cx="5505114" cy="4429514"/>
          </a:xfrm>
          <a:custGeom>
            <a:avLst/>
            <a:gdLst/>
            <a:ahLst/>
            <a:cxnLst/>
            <a:rect l="l" t="t" r="r" b="b"/>
            <a:pathLst>
              <a:path w="5505114" h="4429514">
                <a:moveTo>
                  <a:pt x="0" y="0"/>
                </a:moveTo>
                <a:lnTo>
                  <a:pt x="5505114" y="0"/>
                </a:lnTo>
                <a:lnTo>
                  <a:pt x="5505114" y="4429515"/>
                </a:lnTo>
                <a:lnTo>
                  <a:pt x="0" y="4429515"/>
                </a:lnTo>
                <a:lnTo>
                  <a:pt x="0" y="0"/>
                </a:lnTo>
                <a:close/>
              </a:path>
            </a:pathLst>
          </a:custGeom>
          <a:blipFill>
            <a:blip r:embed="rId4"/>
            <a:stretch>
              <a:fillRect/>
            </a:stretch>
          </a:blipFill>
        </p:spPr>
      </p:sp>
      <p:sp>
        <p:nvSpPr>
          <p:cNvPr id="5" name="Freeform 5"/>
          <p:cNvSpPr/>
          <p:nvPr/>
        </p:nvSpPr>
        <p:spPr>
          <a:xfrm>
            <a:off x="10162995" y="1358166"/>
            <a:ext cx="5671343" cy="4429514"/>
          </a:xfrm>
          <a:custGeom>
            <a:avLst/>
            <a:gdLst/>
            <a:ahLst/>
            <a:cxnLst/>
            <a:rect l="l" t="t" r="r" b="b"/>
            <a:pathLst>
              <a:path w="5671343" h="4429514">
                <a:moveTo>
                  <a:pt x="0" y="0"/>
                </a:moveTo>
                <a:lnTo>
                  <a:pt x="5671343" y="0"/>
                </a:lnTo>
                <a:lnTo>
                  <a:pt x="5671343" y="4429515"/>
                </a:lnTo>
                <a:lnTo>
                  <a:pt x="0" y="4429515"/>
                </a:lnTo>
                <a:lnTo>
                  <a:pt x="0" y="0"/>
                </a:lnTo>
                <a:close/>
              </a:path>
            </a:pathLst>
          </a:custGeom>
          <a:blipFill>
            <a:blip r:embed="rId5"/>
            <a:stretch>
              <a:fillRect/>
            </a:stretch>
          </a:blipFill>
        </p:spPr>
      </p:sp>
      <p:sp>
        <p:nvSpPr>
          <p:cNvPr id="6" name="Freeform 6"/>
          <p:cNvSpPr/>
          <p:nvPr/>
        </p:nvSpPr>
        <p:spPr>
          <a:xfrm>
            <a:off x="3638886" y="5987316"/>
            <a:ext cx="5505114" cy="4177247"/>
          </a:xfrm>
          <a:custGeom>
            <a:avLst/>
            <a:gdLst/>
            <a:ahLst/>
            <a:cxnLst/>
            <a:rect l="l" t="t" r="r" b="b"/>
            <a:pathLst>
              <a:path w="5505114" h="4177247">
                <a:moveTo>
                  <a:pt x="0" y="0"/>
                </a:moveTo>
                <a:lnTo>
                  <a:pt x="5505114" y="0"/>
                </a:lnTo>
                <a:lnTo>
                  <a:pt x="5505114" y="4177247"/>
                </a:lnTo>
                <a:lnTo>
                  <a:pt x="0" y="4177247"/>
                </a:lnTo>
                <a:lnTo>
                  <a:pt x="0" y="0"/>
                </a:lnTo>
                <a:close/>
              </a:path>
            </a:pathLst>
          </a:custGeom>
          <a:blipFill>
            <a:blip r:embed="rId6"/>
            <a:stretch>
              <a:fillRect/>
            </a:stretch>
          </a:blipFill>
        </p:spPr>
      </p:sp>
      <p:sp>
        <p:nvSpPr>
          <p:cNvPr id="7" name="Freeform 7"/>
          <p:cNvSpPr/>
          <p:nvPr/>
        </p:nvSpPr>
        <p:spPr>
          <a:xfrm>
            <a:off x="10162995" y="5930556"/>
            <a:ext cx="5671343" cy="4429514"/>
          </a:xfrm>
          <a:custGeom>
            <a:avLst/>
            <a:gdLst/>
            <a:ahLst/>
            <a:cxnLst/>
            <a:rect l="l" t="t" r="r" b="b"/>
            <a:pathLst>
              <a:path w="5671343" h="4429514">
                <a:moveTo>
                  <a:pt x="0" y="0"/>
                </a:moveTo>
                <a:lnTo>
                  <a:pt x="5671343" y="0"/>
                </a:lnTo>
                <a:lnTo>
                  <a:pt x="5671343" y="4429514"/>
                </a:lnTo>
                <a:lnTo>
                  <a:pt x="0" y="4429514"/>
                </a:lnTo>
                <a:lnTo>
                  <a:pt x="0" y="0"/>
                </a:lnTo>
                <a:close/>
              </a:path>
            </a:pathLst>
          </a:custGeom>
          <a:blipFill>
            <a:blip r:embed="rId7"/>
            <a:stretch>
              <a:fillRect/>
            </a:stretch>
          </a:blipFill>
        </p:spPr>
      </p:sp>
      <p:sp>
        <p:nvSpPr>
          <p:cNvPr id="8" name="TextBox 8"/>
          <p:cNvSpPr txBox="1"/>
          <p:nvPr/>
        </p:nvSpPr>
        <p:spPr>
          <a:xfrm>
            <a:off x="586245" y="115443"/>
            <a:ext cx="12910200" cy="913257"/>
          </a:xfrm>
          <a:prstGeom prst="rect">
            <a:avLst/>
          </a:prstGeom>
        </p:spPr>
        <p:txBody>
          <a:bodyPr lIns="0" tIns="0" rIns="0" bIns="0" rtlCol="0" anchor="t">
            <a:spAutoFit/>
          </a:bodyPr>
          <a:lstStyle/>
          <a:p>
            <a:pPr algn="l">
              <a:lnSpc>
                <a:spcPts val="7884"/>
              </a:lnSpc>
            </a:pPr>
            <a:r>
              <a:rPr lang="en-US" sz="4000" b="1">
                <a:solidFill>
                  <a:srgbClr val="4BD1FB"/>
                </a:solidFill>
                <a:latin typeface="Arimo Bold"/>
                <a:ea typeface="Arimo Bold"/>
                <a:cs typeface="Arimo Bold"/>
                <a:sym typeface="Arimo Bold"/>
              </a:rPr>
              <a:t>Remaining Variables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900514" y="506406"/>
            <a:ext cx="5886868" cy="4343243"/>
          </a:xfrm>
          <a:custGeom>
            <a:avLst/>
            <a:gdLst/>
            <a:ahLst/>
            <a:cxnLst/>
            <a:rect l="l" t="t" r="r" b="b"/>
            <a:pathLst>
              <a:path w="5886868" h="4343243">
                <a:moveTo>
                  <a:pt x="0" y="0"/>
                </a:moveTo>
                <a:lnTo>
                  <a:pt x="5886868" y="0"/>
                </a:lnTo>
                <a:lnTo>
                  <a:pt x="5886868" y="4343244"/>
                </a:lnTo>
                <a:lnTo>
                  <a:pt x="0" y="4343244"/>
                </a:lnTo>
                <a:lnTo>
                  <a:pt x="0" y="0"/>
                </a:lnTo>
                <a:close/>
              </a:path>
            </a:pathLst>
          </a:custGeom>
          <a:blipFill>
            <a:blip r:embed="rId2"/>
            <a:stretch>
              <a:fillRect/>
            </a:stretch>
          </a:blipFill>
        </p:spPr>
      </p:sp>
      <p:sp>
        <p:nvSpPr>
          <p:cNvPr id="3" name="Freeform 3"/>
          <p:cNvSpPr/>
          <p:nvPr/>
        </p:nvSpPr>
        <p:spPr>
          <a:xfrm>
            <a:off x="9975957" y="506406"/>
            <a:ext cx="5934807" cy="4343243"/>
          </a:xfrm>
          <a:custGeom>
            <a:avLst/>
            <a:gdLst/>
            <a:ahLst/>
            <a:cxnLst/>
            <a:rect l="l" t="t" r="r" b="b"/>
            <a:pathLst>
              <a:path w="5934807" h="4343243">
                <a:moveTo>
                  <a:pt x="0" y="0"/>
                </a:moveTo>
                <a:lnTo>
                  <a:pt x="5934807" y="0"/>
                </a:lnTo>
                <a:lnTo>
                  <a:pt x="5934807" y="4343244"/>
                </a:lnTo>
                <a:lnTo>
                  <a:pt x="0" y="4343244"/>
                </a:lnTo>
                <a:lnTo>
                  <a:pt x="0" y="0"/>
                </a:lnTo>
                <a:close/>
              </a:path>
            </a:pathLst>
          </a:custGeom>
          <a:blipFill>
            <a:blip r:embed="rId3"/>
            <a:stretch>
              <a:fillRect/>
            </a:stretch>
          </a:blipFill>
        </p:spPr>
      </p:sp>
      <p:sp>
        <p:nvSpPr>
          <p:cNvPr id="4" name="Freeform 4"/>
          <p:cNvSpPr/>
          <p:nvPr/>
        </p:nvSpPr>
        <p:spPr>
          <a:xfrm>
            <a:off x="2848037" y="5143500"/>
            <a:ext cx="5939345" cy="4638833"/>
          </a:xfrm>
          <a:custGeom>
            <a:avLst/>
            <a:gdLst/>
            <a:ahLst/>
            <a:cxnLst/>
            <a:rect l="l" t="t" r="r" b="b"/>
            <a:pathLst>
              <a:path w="5939345" h="4638833">
                <a:moveTo>
                  <a:pt x="0" y="0"/>
                </a:moveTo>
                <a:lnTo>
                  <a:pt x="5939345" y="0"/>
                </a:lnTo>
                <a:lnTo>
                  <a:pt x="5939345" y="4638833"/>
                </a:lnTo>
                <a:lnTo>
                  <a:pt x="0" y="4638833"/>
                </a:lnTo>
                <a:lnTo>
                  <a:pt x="0" y="0"/>
                </a:lnTo>
                <a:close/>
              </a:path>
            </a:pathLst>
          </a:custGeom>
          <a:blipFill>
            <a:blip r:embed="rId4"/>
            <a:stretch>
              <a:fillRect/>
            </a:stretch>
          </a:blipFill>
        </p:spPr>
      </p:sp>
      <p:sp>
        <p:nvSpPr>
          <p:cNvPr id="5" name="Freeform 5"/>
          <p:cNvSpPr/>
          <p:nvPr/>
        </p:nvSpPr>
        <p:spPr>
          <a:xfrm>
            <a:off x="9975957" y="5143500"/>
            <a:ext cx="5934807" cy="4638833"/>
          </a:xfrm>
          <a:custGeom>
            <a:avLst/>
            <a:gdLst/>
            <a:ahLst/>
            <a:cxnLst/>
            <a:rect l="l" t="t" r="r" b="b"/>
            <a:pathLst>
              <a:path w="5934807" h="4638833">
                <a:moveTo>
                  <a:pt x="0" y="0"/>
                </a:moveTo>
                <a:lnTo>
                  <a:pt x="5934807" y="0"/>
                </a:lnTo>
                <a:lnTo>
                  <a:pt x="5934807" y="4638833"/>
                </a:lnTo>
                <a:lnTo>
                  <a:pt x="0" y="4638833"/>
                </a:lnTo>
                <a:lnTo>
                  <a:pt x="0" y="0"/>
                </a:lnTo>
                <a:close/>
              </a:path>
            </a:pathLst>
          </a:custGeom>
          <a:blipFill>
            <a:blip r:embed="rId5"/>
            <a:stretch>
              <a:fillRect r="-76"/>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775387" y="234188"/>
            <a:ext cx="5886868" cy="4343243"/>
          </a:xfrm>
          <a:custGeom>
            <a:avLst/>
            <a:gdLst/>
            <a:ahLst/>
            <a:cxnLst/>
            <a:rect l="l" t="t" r="r" b="b"/>
            <a:pathLst>
              <a:path w="5886868" h="4343243">
                <a:moveTo>
                  <a:pt x="0" y="0"/>
                </a:moveTo>
                <a:lnTo>
                  <a:pt x="5886868" y="0"/>
                </a:lnTo>
                <a:lnTo>
                  <a:pt x="5886868" y="4343243"/>
                </a:lnTo>
                <a:lnTo>
                  <a:pt x="0" y="4343243"/>
                </a:lnTo>
                <a:lnTo>
                  <a:pt x="0" y="0"/>
                </a:lnTo>
                <a:close/>
              </a:path>
            </a:pathLst>
          </a:custGeom>
          <a:blipFill>
            <a:blip r:embed="rId2"/>
            <a:stretch>
              <a:fillRect/>
            </a:stretch>
          </a:blipFill>
        </p:spPr>
      </p:sp>
      <p:sp>
        <p:nvSpPr>
          <p:cNvPr id="3" name="Freeform 3"/>
          <p:cNvSpPr/>
          <p:nvPr/>
        </p:nvSpPr>
        <p:spPr>
          <a:xfrm>
            <a:off x="9251856" y="234188"/>
            <a:ext cx="5934807" cy="4343243"/>
          </a:xfrm>
          <a:custGeom>
            <a:avLst/>
            <a:gdLst/>
            <a:ahLst/>
            <a:cxnLst/>
            <a:rect l="l" t="t" r="r" b="b"/>
            <a:pathLst>
              <a:path w="5934807" h="4343243">
                <a:moveTo>
                  <a:pt x="0" y="0"/>
                </a:moveTo>
                <a:lnTo>
                  <a:pt x="5934807" y="0"/>
                </a:lnTo>
                <a:lnTo>
                  <a:pt x="5934807" y="4343243"/>
                </a:lnTo>
                <a:lnTo>
                  <a:pt x="0" y="4343243"/>
                </a:lnTo>
                <a:lnTo>
                  <a:pt x="0" y="0"/>
                </a:lnTo>
                <a:close/>
              </a:path>
            </a:pathLst>
          </a:custGeom>
          <a:blipFill>
            <a:blip r:embed="rId3"/>
            <a:stretch>
              <a:fillRect/>
            </a:stretch>
          </a:blipFill>
        </p:spPr>
      </p:sp>
      <p:sp>
        <p:nvSpPr>
          <p:cNvPr id="4" name="Freeform 4"/>
          <p:cNvSpPr/>
          <p:nvPr/>
        </p:nvSpPr>
        <p:spPr>
          <a:xfrm>
            <a:off x="887075" y="5143500"/>
            <a:ext cx="7775180" cy="4339992"/>
          </a:xfrm>
          <a:custGeom>
            <a:avLst/>
            <a:gdLst/>
            <a:ahLst/>
            <a:cxnLst/>
            <a:rect l="l" t="t" r="r" b="b"/>
            <a:pathLst>
              <a:path w="7775180" h="4339992">
                <a:moveTo>
                  <a:pt x="0" y="0"/>
                </a:moveTo>
                <a:lnTo>
                  <a:pt x="7775180" y="0"/>
                </a:lnTo>
                <a:lnTo>
                  <a:pt x="7775180" y="4339992"/>
                </a:lnTo>
                <a:lnTo>
                  <a:pt x="0" y="4339992"/>
                </a:lnTo>
                <a:lnTo>
                  <a:pt x="0" y="0"/>
                </a:lnTo>
                <a:close/>
              </a:path>
            </a:pathLst>
          </a:custGeom>
          <a:blipFill>
            <a:blip r:embed="rId4"/>
            <a:stretch>
              <a:fillRect/>
            </a:stretch>
          </a:blipFill>
        </p:spPr>
      </p:sp>
      <p:sp>
        <p:nvSpPr>
          <p:cNvPr id="5" name="Freeform 5"/>
          <p:cNvSpPr/>
          <p:nvPr/>
        </p:nvSpPr>
        <p:spPr>
          <a:xfrm>
            <a:off x="9479810" y="5143500"/>
            <a:ext cx="7775180" cy="4339992"/>
          </a:xfrm>
          <a:custGeom>
            <a:avLst/>
            <a:gdLst/>
            <a:ahLst/>
            <a:cxnLst/>
            <a:rect l="l" t="t" r="r" b="b"/>
            <a:pathLst>
              <a:path w="7775180" h="4339992">
                <a:moveTo>
                  <a:pt x="0" y="0"/>
                </a:moveTo>
                <a:lnTo>
                  <a:pt x="7775180" y="0"/>
                </a:lnTo>
                <a:lnTo>
                  <a:pt x="7775180" y="4339992"/>
                </a:lnTo>
                <a:lnTo>
                  <a:pt x="0" y="4339992"/>
                </a:lnTo>
                <a:lnTo>
                  <a:pt x="0" y="0"/>
                </a:lnTo>
                <a:close/>
              </a:path>
            </a:pathLst>
          </a:custGeom>
          <a:blipFill>
            <a:blip r:embed="rId5"/>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061304" y="470637"/>
            <a:ext cx="6401544" cy="5114461"/>
          </a:xfrm>
          <a:custGeom>
            <a:avLst/>
            <a:gdLst/>
            <a:ahLst/>
            <a:cxnLst/>
            <a:rect l="l" t="t" r="r" b="b"/>
            <a:pathLst>
              <a:path w="6401544" h="5114461">
                <a:moveTo>
                  <a:pt x="0" y="0"/>
                </a:moveTo>
                <a:lnTo>
                  <a:pt x="6401544" y="0"/>
                </a:lnTo>
                <a:lnTo>
                  <a:pt x="6401544" y="5114460"/>
                </a:lnTo>
                <a:lnTo>
                  <a:pt x="0" y="5114460"/>
                </a:lnTo>
                <a:lnTo>
                  <a:pt x="0" y="0"/>
                </a:lnTo>
                <a:close/>
              </a:path>
            </a:pathLst>
          </a:custGeom>
          <a:blipFill>
            <a:blip r:embed="rId2"/>
            <a:stretch>
              <a:fillRect/>
            </a:stretch>
          </a:blipFill>
        </p:spPr>
      </p:sp>
      <p:sp>
        <p:nvSpPr>
          <p:cNvPr id="3" name="Freeform 3"/>
          <p:cNvSpPr/>
          <p:nvPr/>
        </p:nvSpPr>
        <p:spPr>
          <a:xfrm>
            <a:off x="9983787" y="470637"/>
            <a:ext cx="6661218" cy="5114461"/>
          </a:xfrm>
          <a:custGeom>
            <a:avLst/>
            <a:gdLst/>
            <a:ahLst/>
            <a:cxnLst/>
            <a:rect l="l" t="t" r="r" b="b"/>
            <a:pathLst>
              <a:path w="6661218" h="5114461">
                <a:moveTo>
                  <a:pt x="0" y="0"/>
                </a:moveTo>
                <a:lnTo>
                  <a:pt x="6661219" y="0"/>
                </a:lnTo>
                <a:lnTo>
                  <a:pt x="6661219" y="5114460"/>
                </a:lnTo>
                <a:lnTo>
                  <a:pt x="0" y="5114460"/>
                </a:lnTo>
                <a:lnTo>
                  <a:pt x="0" y="0"/>
                </a:lnTo>
                <a:close/>
              </a:path>
            </a:pathLst>
          </a:custGeom>
          <a:blipFill>
            <a:blip r:embed="rId3"/>
            <a:stretch>
              <a:fillRect/>
            </a:stretch>
          </a:blipFill>
        </p:spPr>
      </p:sp>
      <p:sp>
        <p:nvSpPr>
          <p:cNvPr id="4" name="Freeform 4"/>
          <p:cNvSpPr/>
          <p:nvPr/>
        </p:nvSpPr>
        <p:spPr>
          <a:xfrm>
            <a:off x="5396039" y="5840417"/>
            <a:ext cx="7495923" cy="4184115"/>
          </a:xfrm>
          <a:custGeom>
            <a:avLst/>
            <a:gdLst/>
            <a:ahLst/>
            <a:cxnLst/>
            <a:rect l="l" t="t" r="r" b="b"/>
            <a:pathLst>
              <a:path w="7495923" h="4184115">
                <a:moveTo>
                  <a:pt x="0" y="0"/>
                </a:moveTo>
                <a:lnTo>
                  <a:pt x="7495922" y="0"/>
                </a:lnTo>
                <a:lnTo>
                  <a:pt x="7495922" y="4184114"/>
                </a:lnTo>
                <a:lnTo>
                  <a:pt x="0" y="4184114"/>
                </a:lnTo>
                <a:lnTo>
                  <a:pt x="0" y="0"/>
                </a:lnTo>
                <a:close/>
              </a:path>
            </a:pathLst>
          </a:custGeom>
          <a:blipFill>
            <a:blip r:embed="rId4"/>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622339" y="8938403"/>
            <a:ext cx="5278231" cy="4577665"/>
          </a:xfrm>
          <a:custGeom>
            <a:avLst/>
            <a:gdLst/>
            <a:ahLst/>
            <a:cxnLst/>
            <a:rect l="l" t="t" r="r" b="b"/>
            <a:pathLst>
              <a:path w="5278231" h="4577665">
                <a:moveTo>
                  <a:pt x="0" y="0"/>
                </a:moveTo>
                <a:lnTo>
                  <a:pt x="5278231" y="0"/>
                </a:lnTo>
                <a:lnTo>
                  <a:pt x="5278231" y="4577665"/>
                </a:lnTo>
                <a:lnTo>
                  <a:pt x="0" y="45776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800000">
            <a:off x="15077502" y="-2798190"/>
            <a:ext cx="4742746" cy="4113254"/>
          </a:xfrm>
          <a:custGeom>
            <a:avLst/>
            <a:gdLst/>
            <a:ahLst/>
            <a:cxnLst/>
            <a:rect l="l" t="t" r="r" b="b"/>
            <a:pathLst>
              <a:path w="4742746" h="4113254">
                <a:moveTo>
                  <a:pt x="0" y="0"/>
                </a:moveTo>
                <a:lnTo>
                  <a:pt x="4742746" y="0"/>
                </a:lnTo>
                <a:lnTo>
                  <a:pt x="4742746" y="4113254"/>
                </a:lnTo>
                <a:lnTo>
                  <a:pt x="0" y="411325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838200" y="571500"/>
            <a:ext cx="12910200" cy="913257"/>
          </a:xfrm>
          <a:prstGeom prst="rect">
            <a:avLst/>
          </a:prstGeom>
        </p:spPr>
        <p:txBody>
          <a:bodyPr lIns="0" tIns="0" rIns="0" bIns="0" rtlCol="0" anchor="t">
            <a:spAutoFit/>
          </a:bodyPr>
          <a:lstStyle/>
          <a:p>
            <a:pPr algn="l">
              <a:lnSpc>
                <a:spcPts val="7884"/>
              </a:lnSpc>
            </a:pPr>
            <a:r>
              <a:rPr lang="en-US" sz="4000" b="1">
                <a:solidFill>
                  <a:srgbClr val="4BD1FB"/>
                </a:solidFill>
                <a:latin typeface="Arimo Bold"/>
                <a:ea typeface="Arimo Bold"/>
                <a:cs typeface="Arimo Bold"/>
                <a:sym typeface="Arimo Bold"/>
              </a:rPr>
              <a:t>Method of Risk Scoring</a:t>
            </a:r>
          </a:p>
        </p:txBody>
      </p:sp>
      <p:sp>
        <p:nvSpPr>
          <p:cNvPr id="5" name="TextBox 5"/>
          <p:cNvSpPr txBox="1"/>
          <p:nvPr/>
        </p:nvSpPr>
        <p:spPr>
          <a:xfrm>
            <a:off x="1028700" y="1802826"/>
            <a:ext cx="16200120" cy="2238375"/>
          </a:xfrm>
          <a:prstGeom prst="rect">
            <a:avLst/>
          </a:prstGeom>
        </p:spPr>
        <p:txBody>
          <a:bodyPr lIns="0" tIns="0" rIns="0" bIns="0" rtlCol="0" anchor="t">
            <a:spAutoFit/>
          </a:bodyPr>
          <a:lstStyle/>
          <a:p>
            <a:pPr algn="l">
              <a:lnSpc>
                <a:spcPts val="4499"/>
              </a:lnSpc>
            </a:pPr>
            <a:r>
              <a:rPr lang="en-US" sz="2999">
                <a:solidFill>
                  <a:srgbClr val="FFFFFF"/>
                </a:solidFill>
                <a:latin typeface="Arimo"/>
                <a:ea typeface="Arimo"/>
                <a:cs typeface="Arimo"/>
                <a:sym typeface="Arimo"/>
              </a:rPr>
              <a:t>Step 1: Understanding Variable Importance via Correlation</a:t>
            </a:r>
          </a:p>
          <a:p>
            <a:pPr algn="l">
              <a:lnSpc>
                <a:spcPts val="4499"/>
              </a:lnSpc>
            </a:pPr>
            <a:endParaRPr lang="en-US" sz="2999">
              <a:solidFill>
                <a:srgbClr val="FFFFFF"/>
              </a:solidFill>
              <a:latin typeface="Arimo"/>
              <a:ea typeface="Arimo"/>
              <a:cs typeface="Arimo"/>
              <a:sym typeface="Arimo"/>
            </a:endParaRPr>
          </a:p>
          <a:p>
            <a:pPr algn="l">
              <a:lnSpc>
                <a:spcPts val="4499"/>
              </a:lnSpc>
            </a:pPr>
            <a:r>
              <a:rPr lang="en-US" sz="2999">
                <a:solidFill>
                  <a:srgbClr val="FFFFFF"/>
                </a:solidFill>
                <a:latin typeface="Arimo"/>
                <a:ea typeface="Arimo"/>
                <a:cs typeface="Arimo"/>
                <a:sym typeface="Arimo"/>
              </a:rPr>
              <a:t>Step 2: Allocating Scores to Variables</a:t>
            </a:r>
          </a:p>
          <a:p>
            <a:pPr algn="l">
              <a:lnSpc>
                <a:spcPts val="4500"/>
              </a:lnSpc>
            </a:pPr>
            <a:endParaRPr lang="en-US" sz="2999">
              <a:solidFill>
                <a:srgbClr val="FFFFFF"/>
              </a:solidFill>
              <a:latin typeface="Arimo"/>
              <a:ea typeface="Arimo"/>
              <a:cs typeface="Arimo"/>
              <a:sym typeface="Arimo"/>
            </a:endParaRPr>
          </a:p>
        </p:txBody>
      </p:sp>
      <p:sp>
        <p:nvSpPr>
          <p:cNvPr id="6" name="TextBox 6"/>
          <p:cNvSpPr txBox="1"/>
          <p:nvPr/>
        </p:nvSpPr>
        <p:spPr>
          <a:xfrm>
            <a:off x="2336761" y="3698007"/>
            <a:ext cx="10973619" cy="2276475"/>
          </a:xfrm>
          <a:prstGeom prst="rect">
            <a:avLst/>
          </a:prstGeom>
        </p:spPr>
        <p:txBody>
          <a:bodyPr lIns="0" tIns="0" rIns="0" bIns="0" rtlCol="0" anchor="t">
            <a:spAutoFit/>
          </a:bodyPr>
          <a:lstStyle/>
          <a:p>
            <a:pPr algn="l">
              <a:lnSpc>
                <a:spcPts val="4500"/>
              </a:lnSpc>
            </a:pPr>
            <a:r>
              <a:rPr lang="en-US" sz="3000">
                <a:solidFill>
                  <a:srgbClr val="FFFFFF"/>
                </a:solidFill>
                <a:latin typeface="Arimo"/>
                <a:ea typeface="Arimo"/>
                <a:cs typeface="Arimo"/>
                <a:sym typeface="Arimo"/>
              </a:rPr>
              <a:t>| ρi |= Absolute Value of Correlation of i th Variable</a:t>
            </a:r>
          </a:p>
          <a:p>
            <a:pPr algn="l">
              <a:lnSpc>
                <a:spcPts val="4500"/>
              </a:lnSpc>
            </a:pPr>
            <a:r>
              <a:rPr lang="en-US" sz="3000">
                <a:solidFill>
                  <a:srgbClr val="FFFFFF"/>
                </a:solidFill>
                <a:latin typeface="Arimo"/>
                <a:ea typeface="Arimo"/>
                <a:cs typeface="Arimo"/>
                <a:sym typeface="Arimo"/>
              </a:rPr>
              <a:t>Total Correlation= ∑(| ρi |)</a:t>
            </a:r>
          </a:p>
          <a:p>
            <a:pPr algn="l">
              <a:lnSpc>
                <a:spcPts val="4500"/>
              </a:lnSpc>
            </a:pPr>
            <a:r>
              <a:rPr lang="en-US" sz="3000">
                <a:solidFill>
                  <a:srgbClr val="FFFFFF"/>
                </a:solidFill>
                <a:latin typeface="Arimo"/>
                <a:ea typeface="Arimo"/>
                <a:cs typeface="Arimo"/>
                <a:sym typeface="Arimo"/>
              </a:rPr>
              <a:t>Allocated Score of i th Variable= | ρi | / ∑(| ρi |) * 1000</a:t>
            </a:r>
          </a:p>
          <a:p>
            <a:pPr algn="l">
              <a:lnSpc>
                <a:spcPts val="4500"/>
              </a:lnSpc>
            </a:pPr>
            <a:endParaRPr lang="en-US" sz="3000">
              <a:solidFill>
                <a:srgbClr val="FFFFFF"/>
              </a:solidFill>
              <a:latin typeface="Arimo"/>
              <a:ea typeface="Arimo"/>
              <a:cs typeface="Arimo"/>
              <a:sym typeface="Arimo"/>
            </a:endParaRPr>
          </a:p>
        </p:txBody>
      </p:sp>
      <p:sp>
        <p:nvSpPr>
          <p:cNvPr id="7" name="TextBox 7"/>
          <p:cNvSpPr txBox="1"/>
          <p:nvPr/>
        </p:nvSpPr>
        <p:spPr>
          <a:xfrm>
            <a:off x="1028700" y="5955432"/>
            <a:ext cx="8069580" cy="4762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Step 3: Scoring Numeric Variables</a:t>
            </a:r>
          </a:p>
        </p:txBody>
      </p:sp>
      <p:sp>
        <p:nvSpPr>
          <p:cNvPr id="8" name="TextBox 8"/>
          <p:cNvSpPr txBox="1"/>
          <p:nvPr/>
        </p:nvSpPr>
        <p:spPr>
          <a:xfrm>
            <a:off x="2336761" y="6736482"/>
            <a:ext cx="10973619" cy="3419475"/>
          </a:xfrm>
          <a:prstGeom prst="rect">
            <a:avLst/>
          </a:prstGeom>
        </p:spPr>
        <p:txBody>
          <a:bodyPr lIns="0" tIns="0" rIns="0" bIns="0" rtlCol="0" anchor="t">
            <a:spAutoFit/>
          </a:bodyPr>
          <a:lstStyle/>
          <a:p>
            <a:pPr algn="l">
              <a:lnSpc>
                <a:spcPts val="4500"/>
              </a:lnSpc>
            </a:pPr>
            <a:r>
              <a:rPr lang="en-US" sz="3000">
                <a:solidFill>
                  <a:srgbClr val="FFFFFF"/>
                </a:solidFill>
                <a:latin typeface="Arimo"/>
                <a:ea typeface="Arimo"/>
                <a:cs typeface="Arimo"/>
                <a:sym typeface="Arimo"/>
              </a:rPr>
              <a:t>Normalized Value= (Value−Min)/(Max−Min)</a:t>
            </a:r>
          </a:p>
          <a:p>
            <a:pPr algn="l">
              <a:lnSpc>
                <a:spcPts val="4500"/>
              </a:lnSpc>
            </a:pPr>
            <a:r>
              <a:rPr lang="en-US" sz="3000">
                <a:solidFill>
                  <a:srgbClr val="FFFFFF"/>
                </a:solidFill>
                <a:latin typeface="Arimo"/>
                <a:ea typeface="Arimo"/>
                <a:cs typeface="Arimo"/>
                <a:sym typeface="Arimo"/>
              </a:rPr>
              <a:t>For positively correlated variables </a:t>
            </a:r>
          </a:p>
          <a:p>
            <a:pPr algn="l">
              <a:lnSpc>
                <a:spcPts val="4500"/>
              </a:lnSpc>
            </a:pPr>
            <a:r>
              <a:rPr lang="en-US" sz="3000">
                <a:solidFill>
                  <a:srgbClr val="FFFFFF"/>
                </a:solidFill>
                <a:latin typeface="Arimo"/>
                <a:ea typeface="Arimo"/>
                <a:cs typeface="Arimo"/>
                <a:sym typeface="Arimo"/>
              </a:rPr>
              <a:t>       Score Contribution= Normalized Value × Allocated Score</a:t>
            </a:r>
          </a:p>
          <a:p>
            <a:pPr algn="l">
              <a:lnSpc>
                <a:spcPts val="4500"/>
              </a:lnSpc>
            </a:pPr>
            <a:r>
              <a:rPr lang="en-US" sz="3000">
                <a:solidFill>
                  <a:srgbClr val="FFFFFF"/>
                </a:solidFill>
                <a:latin typeface="Arimo"/>
                <a:ea typeface="Arimo"/>
                <a:cs typeface="Arimo"/>
                <a:sym typeface="Arimo"/>
              </a:rPr>
              <a:t>For negatively correlated variables</a:t>
            </a:r>
          </a:p>
          <a:p>
            <a:pPr algn="l">
              <a:lnSpc>
                <a:spcPts val="4500"/>
              </a:lnSpc>
            </a:pPr>
            <a:r>
              <a:rPr lang="en-US" sz="3000">
                <a:solidFill>
                  <a:srgbClr val="FFFFFF"/>
                </a:solidFill>
                <a:latin typeface="Arimo"/>
                <a:ea typeface="Arimo"/>
                <a:cs typeface="Arimo"/>
                <a:sym typeface="Arimo"/>
              </a:rPr>
              <a:t>       Score Contribution= (1−Normalized Value)×Allocated Score</a:t>
            </a:r>
          </a:p>
          <a:p>
            <a:pPr algn="l">
              <a:lnSpc>
                <a:spcPts val="4500"/>
              </a:lnSpc>
            </a:pPr>
            <a:endParaRPr lang="en-US" sz="3000">
              <a:solidFill>
                <a:srgbClr val="FFFFFF"/>
              </a:solidFill>
              <a:latin typeface="Arimo"/>
              <a:ea typeface="Arimo"/>
              <a:cs typeface="Arimo"/>
              <a:sym typeface="Arim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622339" y="8938403"/>
            <a:ext cx="5278231" cy="4577665"/>
          </a:xfrm>
          <a:custGeom>
            <a:avLst/>
            <a:gdLst/>
            <a:ahLst/>
            <a:cxnLst/>
            <a:rect l="l" t="t" r="r" b="b"/>
            <a:pathLst>
              <a:path w="5278231" h="4577665">
                <a:moveTo>
                  <a:pt x="0" y="0"/>
                </a:moveTo>
                <a:lnTo>
                  <a:pt x="5278231" y="0"/>
                </a:lnTo>
                <a:lnTo>
                  <a:pt x="5278231" y="4577665"/>
                </a:lnTo>
                <a:lnTo>
                  <a:pt x="0" y="45776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800000">
            <a:off x="15077502" y="-2798190"/>
            <a:ext cx="4742746" cy="4113254"/>
          </a:xfrm>
          <a:custGeom>
            <a:avLst/>
            <a:gdLst/>
            <a:ahLst/>
            <a:cxnLst/>
            <a:rect l="l" t="t" r="r" b="b"/>
            <a:pathLst>
              <a:path w="4742746" h="4113254">
                <a:moveTo>
                  <a:pt x="0" y="0"/>
                </a:moveTo>
                <a:lnTo>
                  <a:pt x="4742746" y="0"/>
                </a:lnTo>
                <a:lnTo>
                  <a:pt x="4742746" y="4113254"/>
                </a:lnTo>
                <a:lnTo>
                  <a:pt x="0" y="411325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1028700" y="923925"/>
            <a:ext cx="7710513" cy="561975"/>
          </a:xfrm>
          <a:prstGeom prst="rect">
            <a:avLst/>
          </a:prstGeom>
        </p:spPr>
        <p:txBody>
          <a:bodyPr lIns="0" tIns="0" rIns="0" bIns="0" rtlCol="0" anchor="t">
            <a:spAutoFit/>
          </a:bodyPr>
          <a:lstStyle/>
          <a:p>
            <a:pPr algn="l">
              <a:lnSpc>
                <a:spcPts val="4500"/>
              </a:lnSpc>
            </a:pPr>
            <a:r>
              <a:rPr lang="en-US" sz="3000">
                <a:solidFill>
                  <a:srgbClr val="FFFFFF"/>
                </a:solidFill>
                <a:latin typeface="Arimo"/>
                <a:ea typeface="Arimo"/>
                <a:cs typeface="Arimo"/>
                <a:sym typeface="Arimo"/>
              </a:rPr>
              <a:t>Step 4: Scoring category Encoded Variables</a:t>
            </a:r>
          </a:p>
        </p:txBody>
      </p:sp>
      <p:sp>
        <p:nvSpPr>
          <p:cNvPr id="5" name="TextBox 5"/>
          <p:cNvSpPr txBox="1"/>
          <p:nvPr/>
        </p:nvSpPr>
        <p:spPr>
          <a:xfrm>
            <a:off x="2336761" y="1640607"/>
            <a:ext cx="14734487" cy="3419475"/>
          </a:xfrm>
          <a:prstGeom prst="rect">
            <a:avLst/>
          </a:prstGeom>
        </p:spPr>
        <p:txBody>
          <a:bodyPr lIns="0" tIns="0" rIns="0" bIns="0" rtlCol="0" anchor="t">
            <a:spAutoFit/>
          </a:bodyPr>
          <a:lstStyle/>
          <a:p>
            <a:pPr algn="l">
              <a:lnSpc>
                <a:spcPts val="4500"/>
              </a:lnSpc>
            </a:pPr>
            <a:r>
              <a:rPr lang="en-US" sz="3000">
                <a:solidFill>
                  <a:srgbClr val="FFFFFF"/>
                </a:solidFill>
                <a:latin typeface="Arimo"/>
                <a:ea typeface="Arimo"/>
                <a:cs typeface="Arimo"/>
                <a:sym typeface="Arimo"/>
              </a:rPr>
              <a:t>Adjustment= maximum Allocated score of category Encoding </a:t>
            </a:r>
          </a:p>
          <a:p>
            <a:pPr algn="l">
              <a:lnSpc>
                <a:spcPts val="4500"/>
              </a:lnSpc>
            </a:pPr>
            <a:r>
              <a:rPr lang="en-US" sz="3000">
                <a:solidFill>
                  <a:srgbClr val="FFFFFF"/>
                </a:solidFill>
                <a:latin typeface="Arimo"/>
                <a:ea typeface="Arimo"/>
                <a:cs typeface="Arimo"/>
                <a:sym typeface="Arimo"/>
              </a:rPr>
              <a:t>For positively correlated variables</a:t>
            </a:r>
          </a:p>
          <a:p>
            <a:pPr algn="l">
              <a:lnSpc>
                <a:spcPts val="4500"/>
              </a:lnSpc>
            </a:pPr>
            <a:r>
              <a:rPr lang="en-US" sz="3000">
                <a:solidFill>
                  <a:srgbClr val="FFFFFF"/>
                </a:solidFill>
                <a:latin typeface="Arimo"/>
                <a:ea typeface="Arimo"/>
                <a:cs typeface="Arimo"/>
                <a:sym typeface="Arimo"/>
              </a:rPr>
              <a:t>       Score Contribution= Boolean Value × (Allocated Score - Adjustment)</a:t>
            </a:r>
          </a:p>
          <a:p>
            <a:pPr algn="l">
              <a:lnSpc>
                <a:spcPts val="4500"/>
              </a:lnSpc>
            </a:pPr>
            <a:r>
              <a:rPr lang="en-US" sz="3000">
                <a:solidFill>
                  <a:srgbClr val="FFFFFF"/>
                </a:solidFill>
                <a:latin typeface="Arimo"/>
                <a:ea typeface="Arimo"/>
                <a:cs typeface="Arimo"/>
                <a:sym typeface="Arimo"/>
              </a:rPr>
              <a:t>For negatively correlated variables</a:t>
            </a:r>
          </a:p>
          <a:p>
            <a:pPr algn="l">
              <a:lnSpc>
                <a:spcPts val="4500"/>
              </a:lnSpc>
            </a:pPr>
            <a:r>
              <a:rPr lang="en-US" sz="3000">
                <a:solidFill>
                  <a:srgbClr val="FFFFFF"/>
                </a:solidFill>
                <a:latin typeface="Arimo"/>
                <a:ea typeface="Arimo"/>
                <a:cs typeface="Arimo"/>
                <a:sym typeface="Arimo"/>
              </a:rPr>
              <a:t>       Score Contribution= - Boolean Value × (Allocated Score + Adjustment)</a:t>
            </a:r>
          </a:p>
          <a:p>
            <a:pPr algn="l">
              <a:lnSpc>
                <a:spcPts val="4500"/>
              </a:lnSpc>
            </a:pPr>
            <a:endParaRPr lang="en-US" sz="3000">
              <a:solidFill>
                <a:srgbClr val="FFFFFF"/>
              </a:solidFill>
              <a:latin typeface="Arimo"/>
              <a:ea typeface="Arimo"/>
              <a:cs typeface="Arimo"/>
              <a:sym typeface="Arimo"/>
            </a:endParaRPr>
          </a:p>
        </p:txBody>
      </p:sp>
      <p:sp>
        <p:nvSpPr>
          <p:cNvPr id="6" name="TextBox 6"/>
          <p:cNvSpPr txBox="1"/>
          <p:nvPr/>
        </p:nvSpPr>
        <p:spPr>
          <a:xfrm>
            <a:off x="1028700" y="4895850"/>
            <a:ext cx="8069580" cy="4762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Step 5: Scoring Boolean Variables</a:t>
            </a:r>
          </a:p>
        </p:txBody>
      </p:sp>
      <p:sp>
        <p:nvSpPr>
          <p:cNvPr id="7" name="TextBox 7"/>
          <p:cNvSpPr txBox="1"/>
          <p:nvPr/>
        </p:nvSpPr>
        <p:spPr>
          <a:xfrm>
            <a:off x="2336761" y="8319278"/>
            <a:ext cx="14540913" cy="561975"/>
          </a:xfrm>
          <a:prstGeom prst="rect">
            <a:avLst/>
          </a:prstGeom>
        </p:spPr>
        <p:txBody>
          <a:bodyPr lIns="0" tIns="0" rIns="0" bIns="0" rtlCol="0" anchor="t">
            <a:spAutoFit/>
          </a:bodyPr>
          <a:lstStyle/>
          <a:p>
            <a:pPr algn="l">
              <a:lnSpc>
                <a:spcPts val="4500"/>
              </a:lnSpc>
            </a:pPr>
            <a:r>
              <a:rPr lang="en-US" sz="3000">
                <a:solidFill>
                  <a:srgbClr val="FFFFFF"/>
                </a:solidFill>
                <a:latin typeface="Arimo"/>
                <a:ea typeface="Arimo"/>
                <a:cs typeface="Arimo"/>
                <a:sym typeface="Arimo"/>
              </a:rPr>
              <a:t>Total Score= ∑ Score Contribution + ∑Total Allocated score of category Encoding</a:t>
            </a:r>
          </a:p>
        </p:txBody>
      </p:sp>
      <p:sp>
        <p:nvSpPr>
          <p:cNvPr id="8" name="TextBox 8"/>
          <p:cNvSpPr txBox="1"/>
          <p:nvPr/>
        </p:nvSpPr>
        <p:spPr>
          <a:xfrm>
            <a:off x="2655892" y="5904430"/>
            <a:ext cx="10973619" cy="561975"/>
          </a:xfrm>
          <a:prstGeom prst="rect">
            <a:avLst/>
          </a:prstGeom>
        </p:spPr>
        <p:txBody>
          <a:bodyPr lIns="0" tIns="0" rIns="0" bIns="0" rtlCol="0" anchor="t">
            <a:spAutoFit/>
          </a:bodyPr>
          <a:lstStyle/>
          <a:p>
            <a:pPr algn="l">
              <a:lnSpc>
                <a:spcPts val="4500"/>
              </a:lnSpc>
            </a:pPr>
            <a:r>
              <a:rPr lang="en-US" sz="3000">
                <a:solidFill>
                  <a:srgbClr val="FFFFFF"/>
                </a:solidFill>
                <a:latin typeface="Arimo"/>
                <a:ea typeface="Arimo"/>
                <a:cs typeface="Arimo"/>
                <a:sym typeface="Arimo"/>
              </a:rPr>
              <a:t>Score Contribution= Boolean Value × Allocated Score</a:t>
            </a:r>
          </a:p>
        </p:txBody>
      </p:sp>
      <p:sp>
        <p:nvSpPr>
          <p:cNvPr id="9" name="TextBox 9"/>
          <p:cNvSpPr txBox="1"/>
          <p:nvPr/>
        </p:nvSpPr>
        <p:spPr>
          <a:xfrm>
            <a:off x="1028700" y="7396479"/>
            <a:ext cx="8069580" cy="4762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Step 6: Final Score Calculation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622339" y="8938403"/>
            <a:ext cx="5278231" cy="4577665"/>
          </a:xfrm>
          <a:custGeom>
            <a:avLst/>
            <a:gdLst/>
            <a:ahLst/>
            <a:cxnLst/>
            <a:rect l="l" t="t" r="r" b="b"/>
            <a:pathLst>
              <a:path w="5278231" h="4577665">
                <a:moveTo>
                  <a:pt x="0" y="0"/>
                </a:moveTo>
                <a:lnTo>
                  <a:pt x="5278231" y="0"/>
                </a:lnTo>
                <a:lnTo>
                  <a:pt x="5278231" y="4577665"/>
                </a:lnTo>
                <a:lnTo>
                  <a:pt x="0" y="45776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800000">
            <a:off x="15077502" y="-2798190"/>
            <a:ext cx="4742746" cy="4113254"/>
          </a:xfrm>
          <a:custGeom>
            <a:avLst/>
            <a:gdLst/>
            <a:ahLst/>
            <a:cxnLst/>
            <a:rect l="l" t="t" r="r" b="b"/>
            <a:pathLst>
              <a:path w="4742746" h="4113254">
                <a:moveTo>
                  <a:pt x="0" y="0"/>
                </a:moveTo>
                <a:lnTo>
                  <a:pt x="4742746" y="0"/>
                </a:lnTo>
                <a:lnTo>
                  <a:pt x="4742746" y="4113254"/>
                </a:lnTo>
                <a:lnTo>
                  <a:pt x="0" y="411325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838200" y="571500"/>
            <a:ext cx="12910200" cy="913257"/>
          </a:xfrm>
          <a:prstGeom prst="rect">
            <a:avLst/>
          </a:prstGeom>
        </p:spPr>
        <p:txBody>
          <a:bodyPr lIns="0" tIns="0" rIns="0" bIns="0" rtlCol="0" anchor="t">
            <a:spAutoFit/>
          </a:bodyPr>
          <a:lstStyle/>
          <a:p>
            <a:pPr algn="l">
              <a:lnSpc>
                <a:spcPts val="7884"/>
              </a:lnSpc>
            </a:pPr>
            <a:r>
              <a:rPr lang="en-US" sz="4000" b="1">
                <a:solidFill>
                  <a:srgbClr val="4BD1FB"/>
                </a:solidFill>
                <a:latin typeface="Arimo Bold"/>
                <a:ea typeface="Arimo Bold"/>
                <a:cs typeface="Arimo Bold"/>
                <a:sym typeface="Arimo Bold"/>
              </a:rPr>
              <a:t>Method of Prediction</a:t>
            </a:r>
          </a:p>
        </p:txBody>
      </p:sp>
      <p:sp>
        <p:nvSpPr>
          <p:cNvPr id="5" name="TextBox 5"/>
          <p:cNvSpPr txBox="1"/>
          <p:nvPr/>
        </p:nvSpPr>
        <p:spPr>
          <a:xfrm>
            <a:off x="1028700" y="2413067"/>
            <a:ext cx="14762141" cy="4562475"/>
          </a:xfrm>
          <a:prstGeom prst="rect">
            <a:avLst/>
          </a:prstGeom>
        </p:spPr>
        <p:txBody>
          <a:bodyPr lIns="0" tIns="0" rIns="0" bIns="0" rtlCol="0" anchor="t">
            <a:spAutoFit/>
          </a:bodyPr>
          <a:lstStyle/>
          <a:p>
            <a:pPr marL="647700" lvl="1" indent="-323850" algn="l">
              <a:lnSpc>
                <a:spcPts val="4500"/>
              </a:lnSpc>
              <a:buFont typeface="Arial"/>
              <a:buChar char="•"/>
            </a:pPr>
            <a:r>
              <a:rPr lang="en-US" sz="3000">
                <a:solidFill>
                  <a:srgbClr val="FFFFFF"/>
                </a:solidFill>
                <a:latin typeface="Arimo"/>
                <a:ea typeface="Arimo"/>
                <a:cs typeface="Arimo"/>
                <a:sym typeface="Arimo"/>
              </a:rPr>
              <a:t>To select the best regression model for predicting risk scores, test multiple algorithms (Linear Regression, Ridge, SVM, etc.) using GridSearchCV with a range of hyperparameters for each model. </a:t>
            </a:r>
          </a:p>
          <a:p>
            <a:pPr marL="647700" lvl="1" indent="-323850" algn="l">
              <a:lnSpc>
                <a:spcPts val="4500"/>
              </a:lnSpc>
              <a:buFont typeface="Arial"/>
              <a:buChar char="•"/>
            </a:pPr>
            <a:r>
              <a:rPr lang="en-US" sz="3000">
                <a:solidFill>
                  <a:srgbClr val="FFFFFF"/>
                </a:solidFill>
                <a:latin typeface="Arimo"/>
                <a:ea typeface="Arimo"/>
                <a:cs typeface="Arimo"/>
                <a:sym typeface="Arimo"/>
              </a:rPr>
              <a:t>The best-performing models will be identified based on their scores, and parameters will be optimized. </a:t>
            </a:r>
          </a:p>
          <a:p>
            <a:pPr marL="647700" lvl="1" indent="-323850" algn="l">
              <a:lnSpc>
                <a:spcPts val="4500"/>
              </a:lnSpc>
              <a:buFont typeface="Arial"/>
              <a:buChar char="•"/>
            </a:pPr>
            <a:r>
              <a:rPr lang="en-US" sz="3000">
                <a:solidFill>
                  <a:srgbClr val="FFFFFF"/>
                </a:solidFill>
                <a:latin typeface="Arimo"/>
                <a:ea typeface="Arimo"/>
                <a:cs typeface="Arimo"/>
                <a:sym typeface="Arimo"/>
              </a:rPr>
              <a:t>Finally, the model with the highest score, simplicity, and interpretability will be chosen to ensure reliable predictions for the task.</a:t>
            </a:r>
          </a:p>
          <a:p>
            <a:pPr algn="l">
              <a:lnSpc>
                <a:spcPts val="4500"/>
              </a:lnSpc>
            </a:pPr>
            <a:endParaRPr lang="en-US" sz="3000">
              <a:solidFill>
                <a:srgbClr val="FFFFFF"/>
              </a:solidFill>
              <a:latin typeface="Arimo"/>
              <a:ea typeface="Arimo"/>
              <a:cs typeface="Arimo"/>
              <a:sym typeface="Arimo"/>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4423538" y="-54747"/>
            <a:ext cx="5434809" cy="5649608"/>
            <a:chOff x="0" y="0"/>
            <a:chExt cx="11945287" cy="12417396"/>
          </a:xfrm>
        </p:grpSpPr>
        <p:sp>
          <p:nvSpPr>
            <p:cNvPr id="3" name="Freeform 3"/>
            <p:cNvSpPr/>
            <p:nvPr/>
          </p:nvSpPr>
          <p:spPr>
            <a:xfrm>
              <a:off x="0" y="0"/>
              <a:ext cx="11945239" cy="12417425"/>
            </a:xfrm>
            <a:custGeom>
              <a:avLst/>
              <a:gdLst/>
              <a:ahLst/>
              <a:cxnLst/>
              <a:rect l="l" t="t" r="r" b="b"/>
              <a:pathLst>
                <a:path w="11945239" h="12417425">
                  <a:moveTo>
                    <a:pt x="11945239" y="0"/>
                  </a:moveTo>
                  <a:lnTo>
                    <a:pt x="11945239" y="6444107"/>
                  </a:lnTo>
                  <a:cubicBezTo>
                    <a:pt x="11945239" y="9743186"/>
                    <a:pt x="9271254" y="12417425"/>
                    <a:pt x="5972683" y="12417425"/>
                  </a:cubicBezTo>
                  <a:cubicBezTo>
                    <a:pt x="2674112" y="12417425"/>
                    <a:pt x="0" y="9743186"/>
                    <a:pt x="0" y="6444361"/>
                  </a:cubicBezTo>
                  <a:lnTo>
                    <a:pt x="0" y="0"/>
                  </a:lnTo>
                  <a:lnTo>
                    <a:pt x="11945239" y="0"/>
                  </a:lnTo>
                  <a:close/>
                </a:path>
              </a:pathLst>
            </a:custGeom>
            <a:blipFill>
              <a:blip r:embed="rId2"/>
              <a:stretch>
                <a:fillRect l="-27964" r="-27964"/>
              </a:stretch>
            </a:blipFill>
          </p:spPr>
        </p:sp>
      </p:grpSp>
      <p:grpSp>
        <p:nvGrpSpPr>
          <p:cNvPr id="4" name="Group 4"/>
          <p:cNvGrpSpPr/>
          <p:nvPr/>
        </p:nvGrpSpPr>
        <p:grpSpPr>
          <a:xfrm rot="-5339660">
            <a:off x="14456201" y="6551669"/>
            <a:ext cx="572545" cy="2153116"/>
            <a:chOff x="0" y="0"/>
            <a:chExt cx="763393" cy="2870821"/>
          </a:xfrm>
        </p:grpSpPr>
        <p:sp>
          <p:nvSpPr>
            <p:cNvPr id="5" name="Freeform 5"/>
            <p:cNvSpPr/>
            <p:nvPr/>
          </p:nvSpPr>
          <p:spPr>
            <a:xfrm>
              <a:off x="16891" y="16891"/>
              <a:ext cx="729615" cy="2837053"/>
            </a:xfrm>
            <a:custGeom>
              <a:avLst/>
              <a:gdLst/>
              <a:ahLst/>
              <a:cxnLst/>
              <a:rect l="l" t="t" r="r" b="b"/>
              <a:pathLst>
                <a:path w="729615" h="2837053">
                  <a:moveTo>
                    <a:pt x="0" y="2648458"/>
                  </a:moveTo>
                  <a:lnTo>
                    <a:pt x="455930" y="2648458"/>
                  </a:lnTo>
                  <a:lnTo>
                    <a:pt x="455930" y="188595"/>
                  </a:lnTo>
                  <a:lnTo>
                    <a:pt x="364744" y="188595"/>
                  </a:lnTo>
                  <a:lnTo>
                    <a:pt x="547243" y="0"/>
                  </a:lnTo>
                  <a:lnTo>
                    <a:pt x="729615" y="188595"/>
                  </a:lnTo>
                  <a:lnTo>
                    <a:pt x="638429" y="188595"/>
                  </a:lnTo>
                  <a:lnTo>
                    <a:pt x="638429" y="2837053"/>
                  </a:lnTo>
                  <a:lnTo>
                    <a:pt x="0" y="2837053"/>
                  </a:lnTo>
                  <a:close/>
                </a:path>
              </a:pathLst>
            </a:custGeom>
            <a:solidFill>
              <a:srgbClr val="00B0F0"/>
            </a:solidFill>
          </p:spPr>
        </p:sp>
        <p:sp>
          <p:nvSpPr>
            <p:cNvPr id="6" name="Freeform 6"/>
            <p:cNvSpPr/>
            <p:nvPr/>
          </p:nvSpPr>
          <p:spPr>
            <a:xfrm>
              <a:off x="0" y="0"/>
              <a:ext cx="764667" cy="2870835"/>
            </a:xfrm>
            <a:custGeom>
              <a:avLst/>
              <a:gdLst/>
              <a:ahLst/>
              <a:cxnLst/>
              <a:rect l="l" t="t" r="r" b="b"/>
              <a:pathLst>
                <a:path w="764667" h="2870835">
                  <a:moveTo>
                    <a:pt x="16891" y="2648331"/>
                  </a:moveTo>
                  <a:lnTo>
                    <a:pt x="472821" y="2648331"/>
                  </a:lnTo>
                  <a:lnTo>
                    <a:pt x="472821" y="2665222"/>
                  </a:lnTo>
                  <a:lnTo>
                    <a:pt x="455930" y="2665222"/>
                  </a:lnTo>
                  <a:lnTo>
                    <a:pt x="455930" y="205486"/>
                  </a:lnTo>
                  <a:lnTo>
                    <a:pt x="472821" y="205486"/>
                  </a:lnTo>
                  <a:lnTo>
                    <a:pt x="472821" y="222377"/>
                  </a:lnTo>
                  <a:lnTo>
                    <a:pt x="381635" y="222377"/>
                  </a:lnTo>
                  <a:cubicBezTo>
                    <a:pt x="374777" y="222377"/>
                    <a:pt x="368681" y="218313"/>
                    <a:pt x="366014" y="212090"/>
                  </a:cubicBezTo>
                  <a:cubicBezTo>
                    <a:pt x="363347" y="205867"/>
                    <a:pt x="364744" y="198628"/>
                    <a:pt x="369443" y="193675"/>
                  </a:cubicBezTo>
                  <a:lnTo>
                    <a:pt x="551942" y="5207"/>
                  </a:lnTo>
                  <a:cubicBezTo>
                    <a:pt x="555117" y="1905"/>
                    <a:pt x="559562" y="0"/>
                    <a:pt x="564134" y="0"/>
                  </a:cubicBezTo>
                  <a:cubicBezTo>
                    <a:pt x="568706" y="0"/>
                    <a:pt x="573151" y="1905"/>
                    <a:pt x="576326" y="5207"/>
                  </a:cubicBezTo>
                  <a:lnTo>
                    <a:pt x="758571" y="193802"/>
                  </a:lnTo>
                  <a:cubicBezTo>
                    <a:pt x="763270" y="198628"/>
                    <a:pt x="764667" y="205867"/>
                    <a:pt x="762000" y="212217"/>
                  </a:cubicBezTo>
                  <a:cubicBezTo>
                    <a:pt x="759333" y="218567"/>
                    <a:pt x="753237" y="222504"/>
                    <a:pt x="746379" y="222504"/>
                  </a:cubicBezTo>
                  <a:lnTo>
                    <a:pt x="655320" y="222504"/>
                  </a:lnTo>
                  <a:lnTo>
                    <a:pt x="655320" y="205486"/>
                  </a:lnTo>
                  <a:lnTo>
                    <a:pt x="672211" y="205486"/>
                  </a:lnTo>
                  <a:lnTo>
                    <a:pt x="672211" y="2853944"/>
                  </a:lnTo>
                  <a:cubicBezTo>
                    <a:pt x="672211" y="2863342"/>
                    <a:pt x="664591" y="2870835"/>
                    <a:pt x="655320" y="2870835"/>
                  </a:cubicBezTo>
                  <a:lnTo>
                    <a:pt x="16891" y="2870835"/>
                  </a:lnTo>
                  <a:cubicBezTo>
                    <a:pt x="7493" y="2870835"/>
                    <a:pt x="0" y="2863215"/>
                    <a:pt x="0" y="2853944"/>
                  </a:cubicBezTo>
                  <a:lnTo>
                    <a:pt x="0" y="2665349"/>
                  </a:lnTo>
                  <a:cubicBezTo>
                    <a:pt x="0" y="2655951"/>
                    <a:pt x="7620" y="2648458"/>
                    <a:pt x="16891" y="2648458"/>
                  </a:cubicBezTo>
                  <a:moveTo>
                    <a:pt x="16891" y="2682367"/>
                  </a:moveTo>
                  <a:lnTo>
                    <a:pt x="16891" y="2665476"/>
                  </a:lnTo>
                  <a:lnTo>
                    <a:pt x="33909" y="2665476"/>
                  </a:lnTo>
                  <a:lnTo>
                    <a:pt x="33909" y="2854071"/>
                  </a:lnTo>
                  <a:lnTo>
                    <a:pt x="16891" y="2854071"/>
                  </a:lnTo>
                  <a:lnTo>
                    <a:pt x="16891" y="2837180"/>
                  </a:lnTo>
                  <a:lnTo>
                    <a:pt x="655320" y="2837180"/>
                  </a:lnTo>
                  <a:lnTo>
                    <a:pt x="655320" y="2854071"/>
                  </a:lnTo>
                  <a:lnTo>
                    <a:pt x="638302" y="2854071"/>
                  </a:lnTo>
                  <a:lnTo>
                    <a:pt x="638302" y="205486"/>
                  </a:lnTo>
                  <a:cubicBezTo>
                    <a:pt x="638302" y="196088"/>
                    <a:pt x="645922" y="188595"/>
                    <a:pt x="655193" y="188595"/>
                  </a:cubicBezTo>
                  <a:lnTo>
                    <a:pt x="746379" y="188595"/>
                  </a:lnTo>
                  <a:lnTo>
                    <a:pt x="746379" y="205486"/>
                  </a:lnTo>
                  <a:lnTo>
                    <a:pt x="734187" y="217297"/>
                  </a:lnTo>
                  <a:lnTo>
                    <a:pt x="551942" y="28702"/>
                  </a:lnTo>
                  <a:lnTo>
                    <a:pt x="564134" y="16891"/>
                  </a:lnTo>
                  <a:lnTo>
                    <a:pt x="576326" y="28702"/>
                  </a:lnTo>
                  <a:lnTo>
                    <a:pt x="393827" y="217297"/>
                  </a:lnTo>
                  <a:lnTo>
                    <a:pt x="381635" y="205486"/>
                  </a:lnTo>
                  <a:lnTo>
                    <a:pt x="381635" y="188595"/>
                  </a:lnTo>
                  <a:lnTo>
                    <a:pt x="472821" y="188595"/>
                  </a:lnTo>
                  <a:cubicBezTo>
                    <a:pt x="482219" y="188595"/>
                    <a:pt x="489712" y="196215"/>
                    <a:pt x="489712" y="205486"/>
                  </a:cubicBezTo>
                  <a:lnTo>
                    <a:pt x="489712" y="2665349"/>
                  </a:lnTo>
                  <a:cubicBezTo>
                    <a:pt x="489712" y="2674747"/>
                    <a:pt x="482092" y="2682240"/>
                    <a:pt x="472821" y="2682240"/>
                  </a:cubicBezTo>
                  <a:lnTo>
                    <a:pt x="16891" y="2682240"/>
                  </a:lnTo>
                  <a:close/>
                </a:path>
              </a:pathLst>
            </a:custGeom>
            <a:solidFill>
              <a:srgbClr val="385D8A"/>
            </a:solidFill>
          </p:spPr>
        </p:sp>
      </p:grpSp>
      <p:sp>
        <p:nvSpPr>
          <p:cNvPr id="7" name="Freeform 7"/>
          <p:cNvSpPr/>
          <p:nvPr/>
        </p:nvSpPr>
        <p:spPr>
          <a:xfrm>
            <a:off x="6112845" y="2298513"/>
            <a:ext cx="5014386" cy="3296347"/>
          </a:xfrm>
          <a:custGeom>
            <a:avLst/>
            <a:gdLst/>
            <a:ahLst/>
            <a:cxnLst/>
            <a:rect l="l" t="t" r="r" b="b"/>
            <a:pathLst>
              <a:path w="5014386" h="3296347">
                <a:moveTo>
                  <a:pt x="0" y="0"/>
                </a:moveTo>
                <a:lnTo>
                  <a:pt x="5014385" y="0"/>
                </a:lnTo>
                <a:lnTo>
                  <a:pt x="5014385" y="3296348"/>
                </a:lnTo>
                <a:lnTo>
                  <a:pt x="0" y="3296348"/>
                </a:lnTo>
                <a:lnTo>
                  <a:pt x="0" y="0"/>
                </a:lnTo>
                <a:close/>
              </a:path>
            </a:pathLst>
          </a:custGeom>
          <a:blipFill>
            <a:blip r:embed="rId3"/>
            <a:stretch>
              <a:fillRect l="-42760" t="-75082" r="-114795" b="-45193"/>
            </a:stretch>
          </a:blipFill>
        </p:spPr>
      </p:sp>
      <p:sp>
        <p:nvSpPr>
          <p:cNvPr id="8" name="Freeform 8"/>
          <p:cNvSpPr/>
          <p:nvPr/>
        </p:nvSpPr>
        <p:spPr>
          <a:xfrm>
            <a:off x="6836193" y="6812196"/>
            <a:ext cx="5994387" cy="3401882"/>
          </a:xfrm>
          <a:custGeom>
            <a:avLst/>
            <a:gdLst/>
            <a:ahLst/>
            <a:cxnLst/>
            <a:rect l="l" t="t" r="r" b="b"/>
            <a:pathLst>
              <a:path w="5994387" h="3401882">
                <a:moveTo>
                  <a:pt x="0" y="0"/>
                </a:moveTo>
                <a:lnTo>
                  <a:pt x="5994388" y="0"/>
                </a:lnTo>
                <a:lnTo>
                  <a:pt x="5994388" y="3401882"/>
                </a:lnTo>
                <a:lnTo>
                  <a:pt x="0" y="3401882"/>
                </a:lnTo>
                <a:lnTo>
                  <a:pt x="0" y="0"/>
                </a:lnTo>
                <a:close/>
              </a:path>
            </a:pathLst>
          </a:custGeom>
          <a:blipFill>
            <a:blip r:embed="rId4"/>
            <a:stretch>
              <a:fillRect l="-38986" t="-71201" r="-108411" b="-73893"/>
            </a:stretch>
          </a:blipFill>
        </p:spPr>
      </p:sp>
      <p:sp>
        <p:nvSpPr>
          <p:cNvPr id="9" name="TextBox 9"/>
          <p:cNvSpPr txBox="1"/>
          <p:nvPr/>
        </p:nvSpPr>
        <p:spPr>
          <a:xfrm>
            <a:off x="399828" y="84751"/>
            <a:ext cx="4847521" cy="1543050"/>
          </a:xfrm>
          <a:prstGeom prst="rect">
            <a:avLst/>
          </a:prstGeom>
        </p:spPr>
        <p:txBody>
          <a:bodyPr lIns="0" tIns="0" rIns="0" bIns="0" rtlCol="0" anchor="t">
            <a:spAutoFit/>
          </a:bodyPr>
          <a:lstStyle/>
          <a:p>
            <a:pPr algn="ctr">
              <a:lnSpc>
                <a:spcPts val="11999"/>
              </a:lnSpc>
            </a:pPr>
            <a:r>
              <a:rPr lang="en-US" sz="9999" b="1">
                <a:solidFill>
                  <a:srgbClr val="FFFFFF"/>
                </a:solidFill>
                <a:latin typeface="Arimo Bold"/>
                <a:ea typeface="Arimo Bold"/>
                <a:cs typeface="Arimo Bold"/>
                <a:sym typeface="Arimo Bold"/>
              </a:rPr>
              <a:t>Results</a:t>
            </a:r>
          </a:p>
        </p:txBody>
      </p:sp>
      <p:sp>
        <p:nvSpPr>
          <p:cNvPr id="10" name="TextBox 10"/>
          <p:cNvSpPr txBox="1"/>
          <p:nvPr/>
        </p:nvSpPr>
        <p:spPr>
          <a:xfrm>
            <a:off x="1028700" y="1733696"/>
            <a:ext cx="9526563" cy="1036361"/>
          </a:xfrm>
          <a:prstGeom prst="rect">
            <a:avLst/>
          </a:prstGeom>
        </p:spPr>
        <p:txBody>
          <a:bodyPr lIns="0" tIns="0" rIns="0" bIns="0" rtlCol="0" anchor="t">
            <a:spAutoFit/>
          </a:bodyPr>
          <a:lstStyle/>
          <a:p>
            <a:pPr marL="647700" lvl="1" indent="-323850" algn="l">
              <a:lnSpc>
                <a:spcPts val="4139"/>
              </a:lnSpc>
              <a:buFont typeface="Arial"/>
              <a:buChar char="•"/>
            </a:pPr>
            <a:r>
              <a:rPr lang="en-US" sz="3000">
                <a:solidFill>
                  <a:srgbClr val="FFFFFF"/>
                </a:solidFill>
                <a:latin typeface="DM Sans"/>
                <a:ea typeface="DM Sans"/>
                <a:cs typeface="DM Sans"/>
                <a:sym typeface="DM Sans"/>
              </a:rPr>
              <a:t>Find the correlation between charged off status and other variables.</a:t>
            </a:r>
          </a:p>
        </p:txBody>
      </p:sp>
      <p:sp>
        <p:nvSpPr>
          <p:cNvPr id="11" name="TextBox 11"/>
          <p:cNvSpPr txBox="1"/>
          <p:nvPr/>
        </p:nvSpPr>
        <p:spPr>
          <a:xfrm>
            <a:off x="1028700" y="5775836"/>
            <a:ext cx="12632357" cy="1036361"/>
          </a:xfrm>
          <a:prstGeom prst="rect">
            <a:avLst/>
          </a:prstGeom>
        </p:spPr>
        <p:txBody>
          <a:bodyPr lIns="0" tIns="0" rIns="0" bIns="0" rtlCol="0" anchor="t">
            <a:spAutoFit/>
          </a:bodyPr>
          <a:lstStyle/>
          <a:p>
            <a:pPr marL="647700" lvl="1" indent="-323850" algn="l">
              <a:lnSpc>
                <a:spcPts val="4139"/>
              </a:lnSpc>
              <a:buFont typeface="Arial"/>
              <a:buChar char="•"/>
            </a:pPr>
            <a:r>
              <a:rPr lang="en-US" sz="3000">
                <a:solidFill>
                  <a:srgbClr val="FFFFFF"/>
                </a:solidFill>
                <a:latin typeface="DM Sans"/>
                <a:ea typeface="DM Sans"/>
                <a:cs typeface="DM Sans"/>
                <a:sym typeface="DM Sans"/>
              </a:rPr>
              <a:t>We can see that correlation between age, income level, FICO score and charged off status is negative and others are positive.</a:t>
            </a:r>
          </a:p>
        </p:txBody>
      </p:sp>
      <p:sp>
        <p:nvSpPr>
          <p:cNvPr id="12" name="TextBox 12"/>
          <p:cNvSpPr txBox="1"/>
          <p:nvPr/>
        </p:nvSpPr>
        <p:spPr>
          <a:xfrm>
            <a:off x="3273335" y="8036887"/>
            <a:ext cx="3562858" cy="9334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Total Allocated Score = 1000</a:t>
            </a:r>
          </a:p>
        </p:txBody>
      </p:sp>
      <p:sp>
        <p:nvSpPr>
          <p:cNvPr id="13" name="TextBox 13"/>
          <p:cNvSpPr txBox="1"/>
          <p:nvPr/>
        </p:nvSpPr>
        <p:spPr>
          <a:xfrm>
            <a:off x="14742473" y="8036887"/>
            <a:ext cx="2572257" cy="933450"/>
          </a:xfrm>
          <a:prstGeom prst="rect">
            <a:avLst/>
          </a:prstGeom>
        </p:spPr>
        <p:txBody>
          <a:bodyPr lIns="0" tIns="0" rIns="0" bIns="0" rtlCol="0" anchor="t">
            <a:spAutoFit/>
          </a:bodyPr>
          <a:lstStyle/>
          <a:p>
            <a:pPr algn="l">
              <a:lnSpc>
                <a:spcPts val="3600"/>
              </a:lnSpc>
            </a:pPr>
            <a:r>
              <a:rPr lang="en-US" sz="3000" b="1">
                <a:solidFill>
                  <a:srgbClr val="FFFFFF"/>
                </a:solidFill>
                <a:latin typeface="Arimo Bold"/>
                <a:ea typeface="Arimo Bold"/>
                <a:cs typeface="Arimo Bold"/>
                <a:sym typeface="Arimo Bold"/>
              </a:rPr>
              <a:t>Allocated Score</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TextBox 2"/>
          <p:cNvSpPr txBox="1"/>
          <p:nvPr/>
        </p:nvSpPr>
        <p:spPr>
          <a:xfrm>
            <a:off x="1491493" y="552450"/>
            <a:ext cx="5816292" cy="476250"/>
          </a:xfrm>
          <a:prstGeom prst="rect">
            <a:avLst/>
          </a:prstGeom>
        </p:spPr>
        <p:txBody>
          <a:bodyPr lIns="0" tIns="0" rIns="0" bIns="0" rtlCol="0" anchor="t">
            <a:spAutoFit/>
          </a:bodyPr>
          <a:lstStyle/>
          <a:p>
            <a:pPr algn="l">
              <a:lnSpc>
                <a:spcPts val="3600"/>
              </a:lnSpc>
            </a:pPr>
            <a:r>
              <a:rPr lang="en-US" sz="3000">
                <a:solidFill>
                  <a:srgbClr val="FFFFFF"/>
                </a:solidFill>
                <a:latin typeface="Arimo"/>
                <a:ea typeface="Arimo"/>
                <a:cs typeface="Arimo"/>
                <a:sym typeface="Arimo"/>
              </a:rPr>
              <a:t>Credit Risk Score (Actual Score)</a:t>
            </a:r>
          </a:p>
        </p:txBody>
      </p:sp>
      <p:sp>
        <p:nvSpPr>
          <p:cNvPr id="3" name="Freeform 3"/>
          <p:cNvSpPr/>
          <p:nvPr/>
        </p:nvSpPr>
        <p:spPr>
          <a:xfrm>
            <a:off x="1491493" y="1252538"/>
            <a:ext cx="8591550" cy="3124200"/>
          </a:xfrm>
          <a:custGeom>
            <a:avLst/>
            <a:gdLst/>
            <a:ahLst/>
            <a:cxnLst/>
            <a:rect l="l" t="t" r="r" b="b"/>
            <a:pathLst>
              <a:path w="8591550" h="3124200">
                <a:moveTo>
                  <a:pt x="0" y="0"/>
                </a:moveTo>
                <a:lnTo>
                  <a:pt x="8591550" y="0"/>
                </a:lnTo>
                <a:lnTo>
                  <a:pt x="8591550" y="3124200"/>
                </a:lnTo>
                <a:lnTo>
                  <a:pt x="0" y="3124200"/>
                </a:lnTo>
                <a:lnTo>
                  <a:pt x="0" y="0"/>
                </a:lnTo>
                <a:close/>
              </a:path>
            </a:pathLst>
          </a:custGeom>
          <a:blipFill>
            <a:blip r:embed="rId2"/>
            <a:stretch>
              <a:fillRect l="-20580" t="-72223" r="-12754" b="-33928"/>
            </a:stretch>
          </a:blipFill>
        </p:spPr>
      </p:sp>
      <p:sp>
        <p:nvSpPr>
          <p:cNvPr id="4" name="Freeform 4"/>
          <p:cNvSpPr/>
          <p:nvPr/>
        </p:nvSpPr>
        <p:spPr>
          <a:xfrm>
            <a:off x="1491493" y="5630552"/>
            <a:ext cx="6936450" cy="3627748"/>
          </a:xfrm>
          <a:custGeom>
            <a:avLst/>
            <a:gdLst/>
            <a:ahLst/>
            <a:cxnLst/>
            <a:rect l="l" t="t" r="r" b="b"/>
            <a:pathLst>
              <a:path w="6936450" h="3627748">
                <a:moveTo>
                  <a:pt x="0" y="0"/>
                </a:moveTo>
                <a:lnTo>
                  <a:pt x="6936450" y="0"/>
                </a:lnTo>
                <a:lnTo>
                  <a:pt x="6936450" y="3627748"/>
                </a:lnTo>
                <a:lnTo>
                  <a:pt x="0" y="3627748"/>
                </a:lnTo>
                <a:lnTo>
                  <a:pt x="0" y="0"/>
                </a:lnTo>
                <a:close/>
              </a:path>
            </a:pathLst>
          </a:custGeom>
          <a:blipFill>
            <a:blip r:embed="rId3"/>
            <a:stretch>
              <a:fillRect l="-39504" t="-86444" r="-107644" b="-79241"/>
            </a:stretch>
          </a:blipFill>
        </p:spPr>
      </p:sp>
      <p:sp>
        <p:nvSpPr>
          <p:cNvPr id="5" name="TextBox 5"/>
          <p:cNvSpPr txBox="1"/>
          <p:nvPr/>
        </p:nvSpPr>
        <p:spPr>
          <a:xfrm>
            <a:off x="1491493" y="4703607"/>
            <a:ext cx="5425645" cy="571500"/>
          </a:xfrm>
          <a:prstGeom prst="rect">
            <a:avLst/>
          </a:prstGeom>
        </p:spPr>
        <p:txBody>
          <a:bodyPr lIns="0" tIns="0" rIns="0" bIns="0" rtlCol="0" anchor="t">
            <a:spAutoFit/>
          </a:bodyPr>
          <a:lstStyle/>
          <a:p>
            <a:pPr algn="l">
              <a:lnSpc>
                <a:spcPts val="4320"/>
              </a:lnSpc>
            </a:pPr>
            <a:r>
              <a:rPr lang="en-US" sz="3600" b="1">
                <a:solidFill>
                  <a:srgbClr val="00B0F0"/>
                </a:solidFill>
                <a:latin typeface="Arimo Bold"/>
                <a:ea typeface="Arimo Bold"/>
                <a:cs typeface="Arimo Bold"/>
                <a:sym typeface="Arimo Bold"/>
              </a:rPr>
              <a:t>Model Comparison</a:t>
            </a:r>
          </a:p>
        </p:txBody>
      </p:sp>
      <p:sp>
        <p:nvSpPr>
          <p:cNvPr id="6" name="TextBox 6"/>
          <p:cNvSpPr txBox="1"/>
          <p:nvPr/>
        </p:nvSpPr>
        <p:spPr>
          <a:xfrm>
            <a:off x="8618585" y="5668652"/>
            <a:ext cx="9365839" cy="3260094"/>
          </a:xfrm>
          <a:prstGeom prst="rect">
            <a:avLst/>
          </a:prstGeom>
        </p:spPr>
        <p:txBody>
          <a:bodyPr lIns="0" tIns="0" rIns="0" bIns="0" rtlCol="0" anchor="t">
            <a:spAutoFit/>
          </a:bodyPr>
          <a:lstStyle/>
          <a:p>
            <a:pPr marL="382108" lvl="1" indent="-191054" algn="just">
              <a:lnSpc>
                <a:spcPts val="3167"/>
              </a:lnSpc>
              <a:buFont typeface="Arial"/>
              <a:buChar char="•"/>
            </a:pPr>
            <a:r>
              <a:rPr lang="en-US" sz="3167">
                <a:solidFill>
                  <a:srgbClr val="FFFFFF"/>
                </a:solidFill>
                <a:latin typeface="Arimo"/>
                <a:ea typeface="Arimo"/>
                <a:cs typeface="Arimo"/>
                <a:sym typeface="Arimo"/>
              </a:rPr>
              <a:t>Linear Regression, Ridge Regression, and Support Vector Machine (SVM) all achieved a perfect score of 1.000, indicating these models fit the data exceptionally well.</a:t>
            </a:r>
          </a:p>
          <a:p>
            <a:pPr marL="382108" lvl="1" indent="-191054" algn="just">
              <a:lnSpc>
                <a:spcPts val="3167"/>
              </a:lnSpc>
            </a:pPr>
            <a:endParaRPr lang="en-US" sz="3167">
              <a:solidFill>
                <a:srgbClr val="FFFFFF"/>
              </a:solidFill>
              <a:latin typeface="Arimo"/>
              <a:ea typeface="Arimo"/>
              <a:cs typeface="Arimo"/>
              <a:sym typeface="Arimo"/>
            </a:endParaRPr>
          </a:p>
          <a:p>
            <a:pPr marL="382108" lvl="1" indent="-191054" algn="just">
              <a:lnSpc>
                <a:spcPts val="3167"/>
              </a:lnSpc>
            </a:pPr>
            <a:endParaRPr lang="en-US" sz="3167">
              <a:solidFill>
                <a:srgbClr val="FFFFFF"/>
              </a:solidFill>
              <a:latin typeface="Arimo"/>
              <a:ea typeface="Arimo"/>
              <a:cs typeface="Arimo"/>
              <a:sym typeface="Arimo"/>
            </a:endParaRPr>
          </a:p>
          <a:p>
            <a:pPr marL="382108" lvl="1" indent="-191054" algn="just">
              <a:lnSpc>
                <a:spcPts val="3167"/>
              </a:lnSpc>
              <a:buFont typeface="Arial"/>
              <a:buChar char="•"/>
            </a:pPr>
            <a:r>
              <a:rPr lang="en-US" sz="3167">
                <a:solidFill>
                  <a:srgbClr val="FFFFFF"/>
                </a:solidFill>
                <a:latin typeface="Arimo"/>
                <a:ea typeface="Arimo"/>
                <a:cs typeface="Arimo"/>
                <a:sym typeface="Arimo"/>
              </a:rPr>
              <a:t>Among the machine learning models we use linear regression to predict the credit risk score.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grpSp>
        <p:nvGrpSpPr>
          <p:cNvPr id="2" name="Group 2"/>
          <p:cNvGrpSpPr/>
          <p:nvPr/>
        </p:nvGrpSpPr>
        <p:grpSpPr>
          <a:xfrm>
            <a:off x="13784034" y="0"/>
            <a:ext cx="4503966" cy="10287000"/>
            <a:chOff x="0" y="0"/>
            <a:chExt cx="8372760" cy="19123275"/>
          </a:xfrm>
        </p:grpSpPr>
        <p:sp>
          <p:nvSpPr>
            <p:cNvPr id="3" name="Freeform 3"/>
            <p:cNvSpPr/>
            <p:nvPr/>
          </p:nvSpPr>
          <p:spPr>
            <a:xfrm>
              <a:off x="0" y="0"/>
              <a:ext cx="8372729" cy="19123275"/>
            </a:xfrm>
            <a:custGeom>
              <a:avLst/>
              <a:gdLst/>
              <a:ahLst/>
              <a:cxnLst/>
              <a:rect l="l" t="t" r="r" b="b"/>
              <a:pathLst>
                <a:path w="8372729" h="19123275">
                  <a:moveTo>
                    <a:pt x="0" y="0"/>
                  </a:moveTo>
                  <a:lnTo>
                    <a:pt x="8372729" y="0"/>
                  </a:lnTo>
                  <a:lnTo>
                    <a:pt x="8372729" y="19123275"/>
                  </a:lnTo>
                  <a:lnTo>
                    <a:pt x="0" y="19123275"/>
                  </a:lnTo>
                  <a:lnTo>
                    <a:pt x="0" y="0"/>
                  </a:lnTo>
                  <a:close/>
                </a:path>
              </a:pathLst>
            </a:custGeom>
            <a:blipFill>
              <a:blip r:embed="rId2"/>
              <a:stretch>
                <a:fillRect l="-26132" r="-26133"/>
              </a:stretch>
            </a:blipFill>
          </p:spPr>
        </p:sp>
      </p:grpSp>
      <p:sp>
        <p:nvSpPr>
          <p:cNvPr id="4" name="Freeform 4"/>
          <p:cNvSpPr/>
          <p:nvPr/>
        </p:nvSpPr>
        <p:spPr>
          <a:xfrm>
            <a:off x="14304255" y="-4765240"/>
            <a:ext cx="10196686" cy="10196686"/>
          </a:xfrm>
          <a:custGeom>
            <a:avLst/>
            <a:gdLst/>
            <a:ahLst/>
            <a:cxnLst/>
            <a:rect l="l" t="t" r="r" b="b"/>
            <a:pathLst>
              <a:path w="10196686" h="10196686">
                <a:moveTo>
                  <a:pt x="0" y="0"/>
                </a:moveTo>
                <a:lnTo>
                  <a:pt x="10196686" y="0"/>
                </a:lnTo>
                <a:lnTo>
                  <a:pt x="10196686" y="10196686"/>
                </a:lnTo>
                <a:lnTo>
                  <a:pt x="0" y="10196686"/>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a:off x="14697329" y="6667836"/>
            <a:ext cx="8414387" cy="8414387"/>
          </a:xfrm>
          <a:custGeom>
            <a:avLst/>
            <a:gdLst/>
            <a:ahLst/>
            <a:cxnLst/>
            <a:rect l="l" t="t" r="r" b="b"/>
            <a:pathLst>
              <a:path w="8414387" h="8414387">
                <a:moveTo>
                  <a:pt x="0" y="0"/>
                </a:moveTo>
                <a:lnTo>
                  <a:pt x="8414387" y="0"/>
                </a:lnTo>
                <a:lnTo>
                  <a:pt x="8414387" y="8414387"/>
                </a:lnTo>
                <a:lnTo>
                  <a:pt x="0" y="8414387"/>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12940" y="1514528"/>
            <a:ext cx="5297906" cy="4203067"/>
          </a:xfrm>
          <a:custGeom>
            <a:avLst/>
            <a:gdLst/>
            <a:ahLst/>
            <a:cxnLst/>
            <a:rect l="l" t="t" r="r" b="b"/>
            <a:pathLst>
              <a:path w="5297906" h="4203067">
                <a:moveTo>
                  <a:pt x="0" y="0"/>
                </a:moveTo>
                <a:lnTo>
                  <a:pt x="5297905" y="0"/>
                </a:lnTo>
                <a:lnTo>
                  <a:pt x="5297905" y="4203067"/>
                </a:lnTo>
                <a:lnTo>
                  <a:pt x="0" y="4203067"/>
                </a:lnTo>
                <a:lnTo>
                  <a:pt x="0" y="0"/>
                </a:lnTo>
                <a:close/>
              </a:path>
            </a:pathLst>
          </a:custGeom>
          <a:blipFill>
            <a:blip r:embed="rId7"/>
            <a:stretch>
              <a:fillRect/>
            </a:stretch>
          </a:blipFill>
        </p:spPr>
      </p:sp>
      <p:sp>
        <p:nvSpPr>
          <p:cNvPr id="7" name="Freeform 7"/>
          <p:cNvSpPr/>
          <p:nvPr/>
        </p:nvSpPr>
        <p:spPr>
          <a:xfrm>
            <a:off x="612940" y="5911169"/>
            <a:ext cx="5297906" cy="4203067"/>
          </a:xfrm>
          <a:custGeom>
            <a:avLst/>
            <a:gdLst/>
            <a:ahLst/>
            <a:cxnLst/>
            <a:rect l="l" t="t" r="r" b="b"/>
            <a:pathLst>
              <a:path w="5297906" h="4203067">
                <a:moveTo>
                  <a:pt x="0" y="0"/>
                </a:moveTo>
                <a:lnTo>
                  <a:pt x="5297905" y="0"/>
                </a:lnTo>
                <a:lnTo>
                  <a:pt x="5297905" y="4203067"/>
                </a:lnTo>
                <a:lnTo>
                  <a:pt x="0" y="4203067"/>
                </a:lnTo>
                <a:lnTo>
                  <a:pt x="0" y="0"/>
                </a:lnTo>
                <a:close/>
              </a:path>
            </a:pathLst>
          </a:custGeom>
          <a:blipFill>
            <a:blip r:embed="rId8"/>
            <a:stretch>
              <a:fillRect/>
            </a:stretch>
          </a:blipFill>
        </p:spPr>
      </p:sp>
      <p:sp>
        <p:nvSpPr>
          <p:cNvPr id="8" name="TextBox 8"/>
          <p:cNvSpPr txBox="1"/>
          <p:nvPr/>
        </p:nvSpPr>
        <p:spPr>
          <a:xfrm>
            <a:off x="0" y="-28575"/>
            <a:ext cx="9879016" cy="1543103"/>
          </a:xfrm>
          <a:prstGeom prst="rect">
            <a:avLst/>
          </a:prstGeom>
        </p:spPr>
        <p:txBody>
          <a:bodyPr lIns="0" tIns="0" rIns="0" bIns="0" rtlCol="0" anchor="t">
            <a:spAutoFit/>
          </a:bodyPr>
          <a:lstStyle/>
          <a:p>
            <a:pPr algn="l">
              <a:lnSpc>
                <a:spcPts val="11999"/>
              </a:lnSpc>
            </a:pPr>
            <a:r>
              <a:rPr lang="en-US" sz="9999" b="1">
                <a:solidFill>
                  <a:srgbClr val="FFFFFF"/>
                </a:solidFill>
                <a:latin typeface="Arimo Bold"/>
                <a:ea typeface="Arimo Bold"/>
                <a:cs typeface="Arimo Bold"/>
                <a:sym typeface="Arimo Bold"/>
              </a:rPr>
              <a:t>Discussion</a:t>
            </a:r>
          </a:p>
        </p:txBody>
      </p:sp>
      <p:sp>
        <p:nvSpPr>
          <p:cNvPr id="9" name="TextBox 9"/>
          <p:cNvSpPr txBox="1"/>
          <p:nvPr/>
        </p:nvSpPr>
        <p:spPr>
          <a:xfrm>
            <a:off x="5910845" y="2408042"/>
            <a:ext cx="7614416" cy="1847850"/>
          </a:xfrm>
          <a:prstGeom prst="rect">
            <a:avLst/>
          </a:prstGeom>
        </p:spPr>
        <p:txBody>
          <a:bodyPr lIns="0" tIns="0" rIns="0" bIns="0" rtlCol="0" anchor="t">
            <a:spAutoFit/>
          </a:bodyPr>
          <a:lstStyle/>
          <a:p>
            <a:pPr marL="647702" lvl="1" indent="-323851" algn="just">
              <a:lnSpc>
                <a:spcPts val="3600"/>
              </a:lnSpc>
              <a:buFont typeface="Arial"/>
              <a:buChar char="•"/>
            </a:pPr>
            <a:r>
              <a:rPr lang="en-US" sz="3000">
                <a:solidFill>
                  <a:srgbClr val="FFFFFF"/>
                </a:solidFill>
                <a:latin typeface="Arimo"/>
                <a:ea typeface="Arimo"/>
                <a:cs typeface="Arimo"/>
                <a:sym typeface="Arimo"/>
              </a:rPr>
              <a:t>We cannot get any clear decision about the charged off status when considering the FICO score because of two status get almost same range and overlapping.</a:t>
            </a:r>
          </a:p>
        </p:txBody>
      </p:sp>
      <p:sp>
        <p:nvSpPr>
          <p:cNvPr id="10" name="TextBox 10"/>
          <p:cNvSpPr txBox="1"/>
          <p:nvPr/>
        </p:nvSpPr>
        <p:spPr>
          <a:xfrm>
            <a:off x="5910845" y="6850653"/>
            <a:ext cx="7873189" cy="2762250"/>
          </a:xfrm>
          <a:prstGeom prst="rect">
            <a:avLst/>
          </a:prstGeom>
        </p:spPr>
        <p:txBody>
          <a:bodyPr lIns="0" tIns="0" rIns="0" bIns="0" rtlCol="0" anchor="t">
            <a:spAutoFit/>
          </a:bodyPr>
          <a:lstStyle/>
          <a:p>
            <a:pPr marL="361950" lvl="1" indent="-180975" algn="l">
              <a:lnSpc>
                <a:spcPts val="3600"/>
              </a:lnSpc>
              <a:buFont typeface="Arial"/>
              <a:buChar char="•"/>
            </a:pPr>
            <a:r>
              <a:rPr lang="en-US" sz="3000">
                <a:solidFill>
                  <a:srgbClr val="FFFFFF"/>
                </a:solidFill>
                <a:latin typeface="Arimo"/>
                <a:ea typeface="Arimo"/>
                <a:cs typeface="Arimo"/>
                <a:sym typeface="Arimo"/>
              </a:rPr>
              <a:t>Don’t have any overlapping and get different range.</a:t>
            </a:r>
          </a:p>
          <a:p>
            <a:pPr marL="361950" lvl="1" indent="-180975" algn="l">
              <a:lnSpc>
                <a:spcPts val="3600"/>
              </a:lnSpc>
              <a:buFont typeface="Arial"/>
              <a:buChar char="•"/>
            </a:pPr>
            <a:r>
              <a:rPr lang="en-US" sz="3000">
                <a:solidFill>
                  <a:srgbClr val="FFFFFF"/>
                </a:solidFill>
                <a:latin typeface="Arimo"/>
                <a:ea typeface="Arimo"/>
                <a:cs typeface="Arimo"/>
                <a:sym typeface="Arimo"/>
              </a:rPr>
              <a:t>If credit risk score greater than 481.97 we can confidently say that that is charged off accounts.</a:t>
            </a:r>
          </a:p>
          <a:p>
            <a:pPr algn="l">
              <a:lnSpc>
                <a:spcPts val="3600"/>
              </a:lnSpc>
            </a:pPr>
            <a:endParaRPr lang="en-US" sz="3000">
              <a:solidFill>
                <a:srgbClr val="FFFFFF"/>
              </a:solidFill>
              <a:latin typeface="Arimo"/>
              <a:ea typeface="Arimo"/>
              <a:cs typeface="Arimo"/>
              <a:sym typeface="Arimo"/>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615075" y="1468666"/>
            <a:ext cx="9033245" cy="1596788"/>
          </a:xfrm>
          <a:custGeom>
            <a:avLst/>
            <a:gdLst/>
            <a:ahLst/>
            <a:cxnLst/>
            <a:rect l="l" t="t" r="r" b="b"/>
            <a:pathLst>
              <a:path w="9033245" h="1596788">
                <a:moveTo>
                  <a:pt x="0" y="0"/>
                </a:moveTo>
                <a:lnTo>
                  <a:pt x="9033245" y="0"/>
                </a:lnTo>
                <a:lnTo>
                  <a:pt x="9033245" y="1596788"/>
                </a:lnTo>
                <a:lnTo>
                  <a:pt x="0" y="1596788"/>
                </a:lnTo>
                <a:lnTo>
                  <a:pt x="0" y="0"/>
                </a:lnTo>
                <a:close/>
              </a:path>
            </a:pathLst>
          </a:custGeom>
          <a:blipFill>
            <a:blip r:embed="rId2"/>
            <a:stretch>
              <a:fillRect l="-42839" t="-688019" r="-149019" b="-140263"/>
            </a:stretch>
          </a:blipFill>
        </p:spPr>
      </p:sp>
      <p:sp>
        <p:nvSpPr>
          <p:cNvPr id="3" name="Freeform 3"/>
          <p:cNvSpPr/>
          <p:nvPr/>
        </p:nvSpPr>
        <p:spPr>
          <a:xfrm>
            <a:off x="9822739" y="1520597"/>
            <a:ext cx="7840964" cy="4974767"/>
          </a:xfrm>
          <a:custGeom>
            <a:avLst/>
            <a:gdLst/>
            <a:ahLst/>
            <a:cxnLst/>
            <a:rect l="l" t="t" r="r" b="b"/>
            <a:pathLst>
              <a:path w="7840964" h="4974767">
                <a:moveTo>
                  <a:pt x="0" y="0"/>
                </a:moveTo>
                <a:lnTo>
                  <a:pt x="7840963" y="0"/>
                </a:lnTo>
                <a:lnTo>
                  <a:pt x="7840963" y="4974768"/>
                </a:lnTo>
                <a:lnTo>
                  <a:pt x="0" y="4974768"/>
                </a:lnTo>
                <a:lnTo>
                  <a:pt x="0" y="0"/>
                </a:lnTo>
                <a:close/>
              </a:path>
            </a:pathLst>
          </a:custGeom>
          <a:blipFill>
            <a:blip r:embed="rId3"/>
            <a:stretch>
              <a:fillRect/>
            </a:stretch>
          </a:blipFill>
        </p:spPr>
      </p:sp>
      <p:sp>
        <p:nvSpPr>
          <p:cNvPr id="4" name="TextBox 4"/>
          <p:cNvSpPr txBox="1"/>
          <p:nvPr/>
        </p:nvSpPr>
        <p:spPr>
          <a:xfrm>
            <a:off x="615075" y="535216"/>
            <a:ext cx="16097384" cy="647700"/>
          </a:xfrm>
          <a:prstGeom prst="rect">
            <a:avLst/>
          </a:prstGeom>
        </p:spPr>
        <p:txBody>
          <a:bodyPr lIns="0" tIns="0" rIns="0" bIns="0" rtlCol="0" anchor="t">
            <a:spAutoFit/>
          </a:bodyPr>
          <a:lstStyle/>
          <a:p>
            <a:pPr algn="l">
              <a:lnSpc>
                <a:spcPts val="5400"/>
              </a:lnSpc>
            </a:pPr>
            <a:r>
              <a:rPr lang="en-US" sz="3000">
                <a:solidFill>
                  <a:srgbClr val="FFFFFF"/>
                </a:solidFill>
                <a:latin typeface="Arimo"/>
                <a:ea typeface="Arimo"/>
                <a:cs typeface="Arimo"/>
                <a:sym typeface="Arimo"/>
              </a:rPr>
              <a:t>When we use linear regression </a:t>
            </a:r>
          </a:p>
        </p:txBody>
      </p:sp>
      <p:sp>
        <p:nvSpPr>
          <p:cNvPr id="5" name="TextBox 5"/>
          <p:cNvSpPr txBox="1"/>
          <p:nvPr/>
        </p:nvSpPr>
        <p:spPr>
          <a:xfrm>
            <a:off x="615075" y="3592268"/>
            <a:ext cx="9033245" cy="2628777"/>
          </a:xfrm>
          <a:prstGeom prst="rect">
            <a:avLst/>
          </a:prstGeom>
        </p:spPr>
        <p:txBody>
          <a:bodyPr lIns="0" tIns="0" rIns="0" bIns="0" rtlCol="0" anchor="t">
            <a:spAutoFit/>
          </a:bodyPr>
          <a:lstStyle/>
          <a:p>
            <a:pPr marL="646656" lvl="1" indent="-323328" algn="l">
              <a:lnSpc>
                <a:spcPts val="2995"/>
              </a:lnSpc>
              <a:buFont typeface="Arial"/>
              <a:buChar char="•"/>
            </a:pPr>
            <a:r>
              <a:rPr lang="en-US" sz="2995">
                <a:solidFill>
                  <a:srgbClr val="FFFFFF"/>
                </a:solidFill>
                <a:latin typeface="Arimo"/>
                <a:ea typeface="Arimo"/>
                <a:cs typeface="Arimo"/>
                <a:sym typeface="Arimo"/>
              </a:rPr>
              <a:t>Indicates the model explains 100% of the variance in the target variable.</a:t>
            </a:r>
          </a:p>
          <a:p>
            <a:pPr marL="646656" lvl="1" indent="-323328" algn="l">
              <a:lnSpc>
                <a:spcPts val="2995"/>
              </a:lnSpc>
              <a:buFont typeface="Arial"/>
              <a:buChar char="•"/>
            </a:pPr>
            <a:r>
              <a:rPr lang="en-US" sz="2995">
                <a:solidFill>
                  <a:srgbClr val="FFFFFF"/>
                </a:solidFill>
                <a:latin typeface="Arimo"/>
                <a:ea typeface="Arimo"/>
                <a:cs typeface="Arimo"/>
                <a:sym typeface="Arimo"/>
              </a:rPr>
              <a:t>All predicted values perfectly match the actual values.</a:t>
            </a:r>
          </a:p>
          <a:p>
            <a:pPr marL="646656" lvl="1" indent="-323328" algn="l">
              <a:lnSpc>
                <a:spcPts val="2995"/>
              </a:lnSpc>
              <a:buFont typeface="Arial"/>
              <a:buChar char="•"/>
            </a:pPr>
            <a:r>
              <a:rPr lang="en-US" sz="2995">
                <a:solidFill>
                  <a:srgbClr val="FFFFFF"/>
                </a:solidFill>
                <a:latin typeface="Arimo"/>
                <a:ea typeface="Arimo"/>
                <a:cs typeface="Arimo"/>
                <a:sym typeface="Arimo"/>
              </a:rPr>
              <a:t>The difference between predicted and actual values averages to almost zero when squared and averaged.</a:t>
            </a:r>
          </a:p>
        </p:txBody>
      </p:sp>
      <p:sp>
        <p:nvSpPr>
          <p:cNvPr id="6" name="TextBox 6"/>
          <p:cNvSpPr txBox="1"/>
          <p:nvPr/>
        </p:nvSpPr>
        <p:spPr>
          <a:xfrm>
            <a:off x="9822739" y="7302617"/>
            <a:ext cx="8150948" cy="2705100"/>
          </a:xfrm>
          <a:prstGeom prst="rect">
            <a:avLst/>
          </a:prstGeom>
        </p:spPr>
        <p:txBody>
          <a:bodyPr lIns="0" tIns="0" rIns="0" bIns="0" rtlCol="0" anchor="t">
            <a:spAutoFit/>
          </a:bodyPr>
          <a:lstStyle/>
          <a:p>
            <a:pPr marL="647700" lvl="1" indent="-323850" algn="just">
              <a:lnSpc>
                <a:spcPts val="3000"/>
              </a:lnSpc>
              <a:buFont typeface="Arial"/>
              <a:buChar char="•"/>
            </a:pPr>
            <a:r>
              <a:rPr lang="en-US" sz="3000">
                <a:solidFill>
                  <a:srgbClr val="FFFFFF"/>
                </a:solidFill>
                <a:latin typeface="Arimo"/>
                <a:ea typeface="Arimo"/>
                <a:cs typeface="Arimo"/>
                <a:sym typeface="Arimo"/>
              </a:rPr>
              <a:t>From this you can see actual value and predicted values are coincided.</a:t>
            </a:r>
          </a:p>
          <a:p>
            <a:pPr algn="just">
              <a:lnSpc>
                <a:spcPts val="3000"/>
              </a:lnSpc>
            </a:pPr>
            <a:endParaRPr lang="en-US" sz="3000">
              <a:solidFill>
                <a:srgbClr val="FFFFFF"/>
              </a:solidFill>
              <a:latin typeface="Arimo"/>
              <a:ea typeface="Arimo"/>
              <a:cs typeface="Arimo"/>
              <a:sym typeface="Arimo"/>
            </a:endParaRPr>
          </a:p>
          <a:p>
            <a:pPr marL="647700" lvl="1" indent="-323850" algn="just">
              <a:lnSpc>
                <a:spcPts val="3000"/>
              </a:lnSpc>
              <a:buFont typeface="Arial"/>
              <a:buChar char="•"/>
            </a:pPr>
            <a:r>
              <a:rPr lang="en-US" sz="3000">
                <a:solidFill>
                  <a:srgbClr val="FFFFFF"/>
                </a:solidFill>
                <a:latin typeface="Arimo"/>
                <a:ea typeface="Arimo"/>
                <a:cs typeface="Arimo"/>
                <a:sym typeface="Arimo"/>
              </a:rPr>
              <a:t>In here, we extend 48 columns for our simplicity, by using the PCA we can limit the variables to 40 columns.</a:t>
            </a:r>
          </a:p>
          <a:p>
            <a:pPr algn="just">
              <a:lnSpc>
                <a:spcPts val="3000"/>
              </a:lnSpc>
            </a:pPr>
            <a:endParaRPr lang="en-US" sz="3000">
              <a:solidFill>
                <a:srgbClr val="FFFFFF"/>
              </a:solidFill>
              <a:latin typeface="Arimo"/>
              <a:ea typeface="Arimo"/>
              <a:cs typeface="Arimo"/>
              <a:sym typeface="Arimo"/>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 name="Freeform 2"/>
          <p:cNvSpPr/>
          <p:nvPr/>
        </p:nvSpPr>
        <p:spPr>
          <a:xfrm rot="1313163">
            <a:off x="-4331935" y="6940077"/>
            <a:ext cx="8130161" cy="4804186"/>
          </a:xfrm>
          <a:custGeom>
            <a:avLst/>
            <a:gdLst/>
            <a:ahLst/>
            <a:cxnLst/>
            <a:rect l="l" t="t" r="r" b="b"/>
            <a:pathLst>
              <a:path w="8130161" h="4804186">
                <a:moveTo>
                  <a:pt x="0" y="0"/>
                </a:moveTo>
                <a:lnTo>
                  <a:pt x="8130161" y="0"/>
                </a:lnTo>
                <a:lnTo>
                  <a:pt x="8130161" y="4804186"/>
                </a:lnTo>
                <a:lnTo>
                  <a:pt x="0" y="4804186"/>
                </a:lnTo>
                <a:lnTo>
                  <a:pt x="0" y="0"/>
                </a:lnTo>
                <a:close/>
              </a:path>
            </a:pathLst>
          </a:custGeom>
          <a:blipFill>
            <a:blip r:embed="rId2">
              <a:extLst>
                <a:ext uri="{96DAC541-7B7A-43D3-8B79-37D633B846F1}">
                  <asvg:svgBlip xmlns:asvg="http://schemas.microsoft.com/office/drawing/2016/SVG/main" xmlns="" r:embed="rId3"/>
                </a:ext>
              </a:extLst>
            </a:blip>
            <a:stretch>
              <a:fillRect t="-201" b="-201"/>
            </a:stretch>
          </a:blipFill>
        </p:spPr>
      </p:sp>
      <p:sp>
        <p:nvSpPr>
          <p:cNvPr id="3" name="Freeform 3"/>
          <p:cNvSpPr/>
          <p:nvPr/>
        </p:nvSpPr>
        <p:spPr>
          <a:xfrm rot="1313163">
            <a:off x="16205051" y="-1293310"/>
            <a:ext cx="7340690" cy="4337680"/>
          </a:xfrm>
          <a:custGeom>
            <a:avLst/>
            <a:gdLst/>
            <a:ahLst/>
            <a:cxnLst/>
            <a:rect l="l" t="t" r="r" b="b"/>
            <a:pathLst>
              <a:path w="7340690" h="4337680">
                <a:moveTo>
                  <a:pt x="0" y="0"/>
                </a:moveTo>
                <a:lnTo>
                  <a:pt x="7340690" y="0"/>
                </a:lnTo>
                <a:lnTo>
                  <a:pt x="7340690" y="4337681"/>
                </a:lnTo>
                <a:lnTo>
                  <a:pt x="0" y="4337681"/>
                </a:lnTo>
                <a:lnTo>
                  <a:pt x="0" y="0"/>
                </a:lnTo>
                <a:close/>
              </a:path>
            </a:pathLst>
          </a:custGeom>
          <a:blipFill>
            <a:blip r:embed="rId2">
              <a:extLst>
                <a:ext uri="{96DAC541-7B7A-43D3-8B79-37D633B846F1}">
                  <asvg:svgBlip xmlns:asvg="http://schemas.microsoft.com/office/drawing/2016/SVG/main" xmlns="" r:embed="rId3"/>
                </a:ext>
              </a:extLst>
            </a:blip>
            <a:stretch>
              <a:fillRect t="-201" b="-201"/>
            </a:stretch>
          </a:blipFill>
        </p:spPr>
      </p:sp>
      <p:sp>
        <p:nvSpPr>
          <p:cNvPr id="4" name="TextBox 4"/>
          <p:cNvSpPr txBox="1"/>
          <p:nvPr/>
        </p:nvSpPr>
        <p:spPr>
          <a:xfrm>
            <a:off x="0" y="542925"/>
            <a:ext cx="7851227" cy="976966"/>
          </a:xfrm>
          <a:prstGeom prst="rect">
            <a:avLst/>
          </a:prstGeom>
        </p:spPr>
        <p:txBody>
          <a:bodyPr lIns="0" tIns="0" rIns="0" bIns="0" rtlCol="0" anchor="t">
            <a:spAutoFit/>
          </a:bodyPr>
          <a:lstStyle/>
          <a:p>
            <a:pPr algn="ctr">
              <a:lnSpc>
                <a:spcPts val="5957"/>
              </a:lnSpc>
            </a:pPr>
            <a:r>
              <a:rPr lang="en-US" sz="9999" b="1" spc="95">
                <a:solidFill>
                  <a:srgbClr val="FFFFFF"/>
                </a:solidFill>
                <a:latin typeface="Arimo Bold"/>
                <a:ea typeface="Arimo Bold"/>
                <a:cs typeface="Arimo Bold"/>
                <a:sym typeface="Arimo Bold"/>
              </a:rPr>
              <a:t>Conclusion</a:t>
            </a:r>
          </a:p>
        </p:txBody>
      </p:sp>
      <p:sp>
        <p:nvSpPr>
          <p:cNvPr id="5" name="TextBox 5"/>
          <p:cNvSpPr txBox="1"/>
          <p:nvPr/>
        </p:nvSpPr>
        <p:spPr>
          <a:xfrm>
            <a:off x="1028700" y="1924050"/>
            <a:ext cx="15852442" cy="7791450"/>
          </a:xfrm>
          <a:prstGeom prst="rect">
            <a:avLst/>
          </a:prstGeom>
        </p:spPr>
        <p:txBody>
          <a:bodyPr lIns="0" tIns="0" rIns="0" bIns="0" rtlCol="0" anchor="t">
            <a:spAutoFit/>
          </a:bodyPr>
          <a:lstStyle/>
          <a:p>
            <a:pPr marL="361950" lvl="1" indent="-180975" algn="l">
              <a:lnSpc>
                <a:spcPts val="3600"/>
              </a:lnSpc>
              <a:buFont typeface="Arial"/>
              <a:buChar char="•"/>
            </a:pPr>
            <a:r>
              <a:rPr lang="en-US" sz="3000">
                <a:solidFill>
                  <a:srgbClr val="FFFFFF"/>
                </a:solidFill>
                <a:latin typeface="Arimo"/>
                <a:ea typeface="Arimo"/>
                <a:cs typeface="Arimo"/>
                <a:sym typeface="Arimo"/>
              </a:rPr>
              <a:t>Credit risk score prediction and fraud detection are critical components in ensuring the stability and reliability of financial systems. </a:t>
            </a:r>
          </a:p>
          <a:p>
            <a:pPr marL="361950" lvl="1" indent="-180975" algn="l">
              <a:lnSpc>
                <a:spcPts val="3600"/>
              </a:lnSpc>
            </a:pPr>
            <a:endParaRPr lang="en-US" sz="3000">
              <a:solidFill>
                <a:srgbClr val="FFFFFF"/>
              </a:solidFill>
              <a:latin typeface="Arimo"/>
              <a:ea typeface="Arimo"/>
              <a:cs typeface="Arimo"/>
              <a:sym typeface="Arimo"/>
            </a:endParaRPr>
          </a:p>
          <a:p>
            <a:pPr marL="361950" lvl="1" indent="-180975" algn="l">
              <a:lnSpc>
                <a:spcPts val="3600"/>
              </a:lnSpc>
              <a:buFont typeface="Arial"/>
              <a:buChar char="•"/>
            </a:pPr>
            <a:r>
              <a:rPr lang="en-US" sz="3000">
                <a:solidFill>
                  <a:srgbClr val="FFFFFF"/>
                </a:solidFill>
                <a:latin typeface="Arimo"/>
                <a:ea typeface="Arimo"/>
                <a:cs typeface="Arimo"/>
                <a:sym typeface="Arimo"/>
              </a:rPr>
              <a:t>In the Traditional FICO Score method, charged - off values are overlapping and we cannot get any clear decisions. So, we used credit score method.</a:t>
            </a:r>
          </a:p>
          <a:p>
            <a:pPr marL="361950" lvl="1" indent="-180975" algn="l">
              <a:lnSpc>
                <a:spcPts val="3600"/>
              </a:lnSpc>
            </a:pPr>
            <a:endParaRPr lang="en-US" sz="3000">
              <a:solidFill>
                <a:srgbClr val="FFFFFF"/>
              </a:solidFill>
              <a:latin typeface="Arimo"/>
              <a:ea typeface="Arimo"/>
              <a:cs typeface="Arimo"/>
              <a:sym typeface="Arimo"/>
            </a:endParaRPr>
          </a:p>
          <a:p>
            <a:pPr marL="361950" lvl="1" indent="-180975" algn="l">
              <a:lnSpc>
                <a:spcPts val="3600"/>
              </a:lnSpc>
              <a:buFont typeface="Arial"/>
              <a:buChar char="•"/>
            </a:pPr>
            <a:r>
              <a:rPr lang="en-US" sz="3000">
                <a:solidFill>
                  <a:srgbClr val="FFFFFF"/>
                </a:solidFill>
                <a:latin typeface="Arimo"/>
                <a:ea typeface="Arimo"/>
                <a:cs typeface="Arimo"/>
                <a:sym typeface="Arimo"/>
              </a:rPr>
              <a:t>Used mode imputation and KNN imputer to handle the missing values.</a:t>
            </a:r>
          </a:p>
          <a:p>
            <a:pPr marL="361950" lvl="1" indent="-180975" algn="l">
              <a:lnSpc>
                <a:spcPts val="3600"/>
              </a:lnSpc>
            </a:pPr>
            <a:endParaRPr lang="en-US" sz="3000">
              <a:solidFill>
                <a:srgbClr val="FFFFFF"/>
              </a:solidFill>
              <a:latin typeface="Arimo"/>
              <a:ea typeface="Arimo"/>
              <a:cs typeface="Arimo"/>
              <a:sym typeface="Arimo"/>
            </a:endParaRPr>
          </a:p>
          <a:p>
            <a:pPr marL="361950" lvl="1" indent="-180975" algn="l">
              <a:lnSpc>
                <a:spcPts val="3600"/>
              </a:lnSpc>
              <a:buFont typeface="Arial"/>
              <a:buChar char="•"/>
            </a:pPr>
            <a:r>
              <a:rPr lang="en-US" sz="3000">
                <a:solidFill>
                  <a:srgbClr val="FFFFFF"/>
                </a:solidFill>
                <a:latin typeface="Arimo"/>
                <a:ea typeface="Arimo"/>
                <a:cs typeface="Arimo"/>
                <a:sym typeface="Arimo"/>
              </a:rPr>
              <a:t>Outlier is handled using log transformation, capping  and IQR methods.</a:t>
            </a:r>
          </a:p>
          <a:p>
            <a:pPr marL="361950" lvl="1" indent="-180975" algn="l">
              <a:lnSpc>
                <a:spcPts val="3600"/>
              </a:lnSpc>
            </a:pPr>
            <a:endParaRPr lang="en-US" sz="3000">
              <a:solidFill>
                <a:srgbClr val="FFFFFF"/>
              </a:solidFill>
              <a:latin typeface="Arimo"/>
              <a:ea typeface="Arimo"/>
              <a:cs typeface="Arimo"/>
              <a:sym typeface="Arimo"/>
            </a:endParaRPr>
          </a:p>
          <a:p>
            <a:pPr marL="361950" lvl="1" indent="-180975" algn="l">
              <a:lnSpc>
                <a:spcPts val="3600"/>
              </a:lnSpc>
              <a:buFont typeface="Arial"/>
              <a:buChar char="•"/>
            </a:pPr>
            <a:r>
              <a:rPr lang="en-US" sz="3000">
                <a:solidFill>
                  <a:srgbClr val="FFFFFF"/>
                </a:solidFill>
                <a:latin typeface="Arimo"/>
                <a:ea typeface="Arimo"/>
                <a:cs typeface="Arimo"/>
                <a:sym typeface="Arimo"/>
              </a:rPr>
              <a:t>We create a new variables as date_contradiction_flag to handled contradiction  related to dates.</a:t>
            </a:r>
          </a:p>
          <a:p>
            <a:pPr marL="361950" lvl="1" indent="-180975" algn="l">
              <a:lnSpc>
                <a:spcPts val="3600"/>
              </a:lnSpc>
            </a:pPr>
            <a:endParaRPr lang="en-US" sz="3000">
              <a:solidFill>
                <a:srgbClr val="FFFFFF"/>
              </a:solidFill>
              <a:latin typeface="Arimo"/>
              <a:ea typeface="Arimo"/>
              <a:cs typeface="Arimo"/>
              <a:sym typeface="Arimo"/>
            </a:endParaRPr>
          </a:p>
          <a:p>
            <a:pPr marL="361950" lvl="1" indent="-180975" algn="l">
              <a:lnSpc>
                <a:spcPts val="3600"/>
              </a:lnSpc>
              <a:buFont typeface="Arial"/>
              <a:buChar char="•"/>
            </a:pPr>
            <a:r>
              <a:rPr lang="en-US" sz="3000">
                <a:solidFill>
                  <a:srgbClr val="FFFFFF"/>
                </a:solidFill>
                <a:latin typeface="Arimo"/>
                <a:ea typeface="Arimo"/>
                <a:cs typeface="Arimo"/>
                <a:sym typeface="Arimo"/>
              </a:rPr>
              <a:t>Linear Regression is applied to predict the credit risk score and our model achieved 100% accuracy.</a:t>
            </a:r>
          </a:p>
          <a:p>
            <a:pPr marL="361950" lvl="1" indent="-180975" algn="l">
              <a:lnSpc>
                <a:spcPts val="3600"/>
              </a:lnSpc>
            </a:pPr>
            <a:endParaRPr lang="en-US" sz="3000">
              <a:solidFill>
                <a:srgbClr val="FFFFFF"/>
              </a:solidFill>
              <a:latin typeface="Arimo"/>
              <a:ea typeface="Arimo"/>
              <a:cs typeface="Arimo"/>
              <a:sym typeface="Arimo"/>
            </a:endParaRPr>
          </a:p>
          <a:p>
            <a:pPr marL="361950" lvl="1" indent="-180975" algn="l">
              <a:lnSpc>
                <a:spcPts val="3600"/>
              </a:lnSpc>
            </a:pPr>
            <a:endParaRPr lang="en-US" sz="3000">
              <a:solidFill>
                <a:srgbClr val="FFFFFF"/>
              </a:solidFill>
              <a:latin typeface="Arimo"/>
              <a:ea typeface="Arimo"/>
              <a:cs typeface="Arimo"/>
              <a:sym typeface="Arimo"/>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 name="Freeform 2"/>
          <p:cNvSpPr/>
          <p:nvPr/>
        </p:nvSpPr>
        <p:spPr>
          <a:xfrm>
            <a:off x="16572873" y="8571873"/>
            <a:ext cx="1715127" cy="1715127"/>
          </a:xfrm>
          <a:custGeom>
            <a:avLst/>
            <a:gdLst/>
            <a:ahLst/>
            <a:cxnLst/>
            <a:rect l="l" t="t" r="r" b="b"/>
            <a:pathLst>
              <a:path w="1715127" h="1715127">
                <a:moveTo>
                  <a:pt x="0" y="0"/>
                </a:moveTo>
                <a:lnTo>
                  <a:pt x="1715127" y="0"/>
                </a:lnTo>
                <a:lnTo>
                  <a:pt x="1715127" y="1715127"/>
                </a:lnTo>
                <a:lnTo>
                  <a:pt x="0" y="171512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6572873" y="-46716"/>
            <a:ext cx="1715127" cy="1715127"/>
          </a:xfrm>
          <a:custGeom>
            <a:avLst/>
            <a:gdLst/>
            <a:ahLst/>
            <a:cxnLst/>
            <a:rect l="l" t="t" r="r" b="b"/>
            <a:pathLst>
              <a:path w="1715127" h="1715127">
                <a:moveTo>
                  <a:pt x="0" y="0"/>
                </a:moveTo>
                <a:lnTo>
                  <a:pt x="1715127" y="0"/>
                </a:lnTo>
                <a:lnTo>
                  <a:pt x="1715127" y="1715127"/>
                </a:lnTo>
                <a:lnTo>
                  <a:pt x="0" y="171512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0" y="691445"/>
            <a:ext cx="11693083" cy="976966"/>
          </a:xfrm>
          <a:prstGeom prst="rect">
            <a:avLst/>
          </a:prstGeom>
        </p:spPr>
        <p:txBody>
          <a:bodyPr lIns="0" tIns="0" rIns="0" bIns="0" rtlCol="0" anchor="t">
            <a:spAutoFit/>
          </a:bodyPr>
          <a:lstStyle/>
          <a:p>
            <a:pPr algn="ctr">
              <a:lnSpc>
                <a:spcPts val="5957"/>
              </a:lnSpc>
            </a:pPr>
            <a:r>
              <a:rPr lang="en-US" sz="9999" b="1" spc="95">
                <a:solidFill>
                  <a:srgbClr val="FFFFFF"/>
                </a:solidFill>
                <a:latin typeface="Arimo Bold"/>
                <a:ea typeface="Arimo Bold"/>
                <a:cs typeface="Arimo Bold"/>
                <a:sym typeface="Arimo Bold"/>
              </a:rPr>
              <a:t>Acknowledgement</a:t>
            </a:r>
          </a:p>
        </p:txBody>
      </p:sp>
      <p:sp>
        <p:nvSpPr>
          <p:cNvPr id="5" name="TextBox 5"/>
          <p:cNvSpPr txBox="1"/>
          <p:nvPr/>
        </p:nvSpPr>
        <p:spPr>
          <a:xfrm>
            <a:off x="1028700" y="2476391"/>
            <a:ext cx="13152120" cy="3562350"/>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FFFFFF"/>
                </a:solidFill>
                <a:latin typeface="Arimo"/>
                <a:ea typeface="Arimo"/>
                <a:cs typeface="Arimo"/>
                <a:sym typeface="Arimo"/>
              </a:rPr>
              <a:t>We would like to express our heartfelt gratitude to everyone who contributed to the successful completion of this case study.</a:t>
            </a:r>
          </a:p>
          <a:p>
            <a:pPr marL="647700" lvl="1" indent="-323850" algn="l">
              <a:lnSpc>
                <a:spcPts val="4500"/>
              </a:lnSpc>
              <a:buFont typeface="Arial"/>
              <a:buChar char="•"/>
            </a:pPr>
            <a:r>
              <a:rPr lang="en-US" sz="3000">
                <a:solidFill>
                  <a:srgbClr val="FFFFFF"/>
                </a:solidFill>
                <a:latin typeface="Arimo"/>
                <a:ea typeface="Arimo"/>
                <a:cs typeface="Arimo"/>
                <a:sym typeface="Arimo"/>
              </a:rPr>
              <a:t>We thank to Institute of Applied Statistics, SriLanka (IASSL) for providing us with access to relevant data and resources that formed the backbone of this study.</a:t>
            </a:r>
          </a:p>
          <a:p>
            <a:pPr marL="647700" lvl="1" indent="-323850" algn="l">
              <a:lnSpc>
                <a:spcPts val="3600"/>
              </a:lnSpc>
              <a:buFont typeface="Arial"/>
              <a:buChar char="•"/>
            </a:pPr>
            <a:r>
              <a:rPr lang="en-US" sz="3000">
                <a:solidFill>
                  <a:srgbClr val="FFFFFF"/>
                </a:solidFill>
                <a:latin typeface="Arimo"/>
                <a:ea typeface="Arimo"/>
                <a:cs typeface="Arimo"/>
                <a:sym typeface="Arimo"/>
              </a:rPr>
              <a:t>Additionally, we thank our peers and colleagues for their constructive feedback and support during the preparation of this presentation.</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6962082" y="7635165"/>
            <a:ext cx="2651835" cy="2651835"/>
          </a:xfrm>
          <a:custGeom>
            <a:avLst/>
            <a:gdLst/>
            <a:ahLst/>
            <a:cxnLst/>
            <a:rect l="l" t="t" r="r" b="b"/>
            <a:pathLst>
              <a:path w="2651835" h="2651835">
                <a:moveTo>
                  <a:pt x="0" y="0"/>
                </a:moveTo>
                <a:lnTo>
                  <a:pt x="2651836" y="0"/>
                </a:lnTo>
                <a:lnTo>
                  <a:pt x="2651836" y="2651835"/>
                </a:lnTo>
                <a:lnTo>
                  <a:pt x="0" y="265183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4794443" y="4288916"/>
            <a:ext cx="6978213" cy="1283610"/>
          </a:xfrm>
          <a:prstGeom prst="rect">
            <a:avLst/>
          </a:prstGeom>
        </p:spPr>
        <p:txBody>
          <a:bodyPr lIns="0" tIns="0" rIns="0" bIns="0" rtlCol="0" anchor="t">
            <a:spAutoFit/>
          </a:bodyPr>
          <a:lstStyle/>
          <a:p>
            <a:pPr algn="l">
              <a:lnSpc>
                <a:spcPts val="9167"/>
              </a:lnSpc>
            </a:pPr>
            <a:r>
              <a:rPr lang="en-US" sz="9999" b="1" spc="399">
                <a:solidFill>
                  <a:srgbClr val="FFFFFF"/>
                </a:solidFill>
                <a:latin typeface="Arimo Bold"/>
                <a:ea typeface="Arimo Bold"/>
                <a:cs typeface="Arimo Bold"/>
                <a:sym typeface="Arimo Bold"/>
              </a:rPr>
              <a:t>Thank You</a:t>
            </a:r>
          </a:p>
        </p:txBody>
      </p:sp>
      <p:sp>
        <p:nvSpPr>
          <p:cNvPr id="4" name="TextBox 4"/>
          <p:cNvSpPr txBox="1"/>
          <p:nvPr/>
        </p:nvSpPr>
        <p:spPr>
          <a:xfrm>
            <a:off x="3645047" y="3409010"/>
            <a:ext cx="9277004" cy="474241"/>
          </a:xfrm>
          <a:prstGeom prst="rect">
            <a:avLst/>
          </a:prstGeom>
        </p:spPr>
        <p:txBody>
          <a:bodyPr lIns="0" tIns="0" rIns="0" bIns="0" rtlCol="0" anchor="t">
            <a:spAutoFit/>
          </a:bodyPr>
          <a:lstStyle/>
          <a:p>
            <a:pPr algn="ctr">
              <a:lnSpc>
                <a:spcPts val="3690"/>
              </a:lnSpc>
            </a:pPr>
            <a:r>
              <a:rPr lang="en-US" sz="3000" i="1" spc="-59">
                <a:solidFill>
                  <a:srgbClr val="56AEFF"/>
                </a:solidFill>
                <a:latin typeface="Arimo Italics"/>
                <a:ea typeface="Arimo Italics"/>
                <a:cs typeface="Arimo Italics"/>
                <a:sym typeface="Arimo Italics"/>
              </a:rPr>
              <a:t>“Risk Comes From not Knowing What you’re Doing”</a:t>
            </a:r>
          </a:p>
        </p:txBody>
      </p:sp>
      <p:sp>
        <p:nvSpPr>
          <p:cNvPr id="5" name="Freeform 5"/>
          <p:cNvSpPr/>
          <p:nvPr/>
        </p:nvSpPr>
        <p:spPr>
          <a:xfrm>
            <a:off x="-1093663" y="-598034"/>
            <a:ext cx="2651835" cy="2651835"/>
          </a:xfrm>
          <a:custGeom>
            <a:avLst/>
            <a:gdLst/>
            <a:ahLst/>
            <a:cxnLst/>
            <a:rect l="l" t="t" r="r" b="b"/>
            <a:pathLst>
              <a:path w="2651835" h="2651835">
                <a:moveTo>
                  <a:pt x="0" y="0"/>
                </a:moveTo>
                <a:lnTo>
                  <a:pt x="2651835" y="0"/>
                </a:lnTo>
                <a:lnTo>
                  <a:pt x="2651835" y="2651835"/>
                </a:lnTo>
                <a:lnTo>
                  <a:pt x="0" y="265183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1137</Words>
  <Application>Microsoft Office PowerPoint</Application>
  <PresentationFormat>Custom</PresentationFormat>
  <Paragraphs>138</Paragraphs>
  <Slides>30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TT Phobos Bold</vt:lpstr>
      <vt:lpstr>Calibri</vt:lpstr>
      <vt:lpstr>Arimo Italics</vt:lpstr>
      <vt:lpstr>Arimo</vt:lpstr>
      <vt:lpstr>DM Sans</vt:lpstr>
      <vt:lpstr>Arial</vt:lpstr>
      <vt:lpstr>TT Phobos Italics</vt:lpstr>
      <vt:lpstr>TT Phobos Bold Italics</vt:lpstr>
      <vt:lpstr>Arimo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Dark Professional Geometric Business Project Presentation .pptx</dc:title>
  <cp:lastModifiedBy>Microsoft account</cp:lastModifiedBy>
  <cp:revision>2</cp:revision>
  <dcterms:created xsi:type="dcterms:W3CDTF">2006-08-16T00:00:00Z</dcterms:created>
  <dcterms:modified xsi:type="dcterms:W3CDTF">2024-11-29T18:33:54Z</dcterms:modified>
  <dc:identifier>DAGXZX6YUcU</dc:identifier>
</cp:coreProperties>
</file>